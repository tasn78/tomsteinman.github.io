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</p:sldIdLst>
  <p:sldSz cx="43891200" cy="32918400"/>
  <p:notesSz cx="5800725" cy="9094788"/>
  <p:embeddedFontLst>
    <p:embeddedFont>
      <p:font typeface="Amaranth" panose="020B0604020202020204" charset="0"/>
      <p:regular r:id="rId3"/>
      <p:bold r:id="rId4"/>
      <p:italic r:id="rId5"/>
      <p:boldItalic r:id="rId6"/>
    </p:embeddedFont>
    <p:embeddedFont>
      <p:font typeface="Titillium Web" panose="00000500000000000000" pitchFamily="2" charset="0"/>
      <p:regular r:id="rId7"/>
      <p:bold r:id="rId8"/>
      <p:italic r:id="rId9"/>
      <p:boldItalic r:id="rId10"/>
    </p:embeddedFont>
  </p:embeddedFontLst>
  <p:custDataLst>
    <p:tags r:id="rId11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9300" kern="1200">
        <a:solidFill>
          <a:schemeClr val="tx1"/>
        </a:solidFill>
        <a:latin typeface="Arial"/>
        <a:ea typeface="+mn-ea"/>
        <a:cs typeface="+mn-cs"/>
      </a:defRPr>
    </a:lvl5pPr>
    <a:lvl6pPr marL="22860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6pPr>
    <a:lvl7pPr marL="27432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7pPr>
    <a:lvl8pPr marL="32004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8pPr>
    <a:lvl9pPr marL="3657600" algn="l" defTabSz="914400" rtl="0" eaLnBrk="1" latinLnBrk="0" hangingPunct="1">
      <a:defRPr sz="9300" kern="1200">
        <a:solidFill>
          <a:schemeClr val="tx1"/>
        </a:solidFill>
        <a:latin typeface="Arial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-5028" y="-6006"/>
      </p:cViewPr>
      <p:guideLst>
        <p:guide orient="horz" pos="10368"/>
        <p:guide pos="13824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gs" Target="tags/tag1.xml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92475" y="10226675"/>
            <a:ext cx="37306250" cy="7054850"/>
          </a:xfrm>
        </p:spPr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583363" y="18653125"/>
            <a:ext cx="30724475" cy="8413750"/>
          </a:xfrm>
        </p:spPr>
        <p:txBody>
          <a:bodyPr/>
          <a:lstStyle>
            <a:defPPr>
              <a:defRPr kern="1200"/>
            </a:defPPr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9E44D62-E9B9-4A1F-9D60-78A1B8BD21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12747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D772C493-C7EB-4BEF-9EB3-C72AA1A173D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92216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67100" y="21153438"/>
            <a:ext cx="37307838" cy="6537325"/>
          </a:xfrm>
        </p:spPr>
        <p:txBody>
          <a:bodyPr anchor="t"/>
          <a:lstStyle>
            <a:defPPr>
              <a:defRPr kern="1200"/>
            </a:defPPr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67100" y="13952538"/>
            <a:ext cx="37307838" cy="7200900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239EF23-2AC5-4B50-8C9E-5F8D49668A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62582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193925" y="7680325"/>
            <a:ext cx="19675475" cy="21724938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021800" y="7680325"/>
            <a:ext cx="19675475" cy="21724938"/>
          </a:xfrm>
        </p:spPr>
        <p:txBody>
          <a:bodyPr/>
          <a:lstStyle>
            <a:defPPr>
              <a:defRPr kern="1200"/>
            </a:defPPr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0BBD8762-0F6F-41F2-8E1E-C5EF6CE7FF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9722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93925" y="7369175"/>
            <a:ext cx="19392900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93925" y="10439400"/>
            <a:ext cx="19392900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2296438" y="7369175"/>
            <a:ext cx="19400838" cy="3070225"/>
          </a:xfrm>
        </p:spPr>
        <p:txBody>
          <a:bodyPr anchor="b"/>
          <a:lstStyle>
            <a:defPPr>
              <a:defRPr kern="1200"/>
            </a:defPPr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2296438" y="10439400"/>
            <a:ext cx="19400838" cy="18965862"/>
          </a:xfrm>
        </p:spPr>
        <p:txBody>
          <a:bodyPr/>
          <a:lstStyle>
            <a:defPPr>
              <a:defRPr kern="1200"/>
            </a:defPPr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C245EB89-E1F0-4213-BFCF-D6A06A13C4E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356688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F9249905-9305-4041-8B60-8DE0824E81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812194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97C76933-D99D-4DC1-BD09-1072CC92B2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9367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3925" y="1311275"/>
            <a:ext cx="14439900" cy="5576888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60875" y="1311275"/>
            <a:ext cx="24536400" cy="28093988"/>
          </a:xfrm>
        </p:spPr>
        <p:txBody>
          <a:bodyPr/>
          <a:lstStyle>
            <a:defPPr>
              <a:defRPr kern="1200"/>
            </a:defPPr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93925" y="6888163"/>
            <a:ext cx="14439900" cy="22517100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EF6A5529-8465-4E7D-9DB8-D374C51CD7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1112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2663" y="23042562"/>
            <a:ext cx="26335038" cy="2720975"/>
          </a:xfrm>
        </p:spPr>
        <p:txBody>
          <a:bodyPr anchor="b"/>
          <a:lstStyle>
            <a:defPPr>
              <a:defRPr kern="1200"/>
            </a:defPPr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602663" y="2941638"/>
            <a:ext cx="26335038" cy="19750088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2663" y="25763538"/>
            <a:ext cx="26335038" cy="3862387"/>
          </a:xfrm>
        </p:spPr>
        <p:txBody>
          <a:bodyPr/>
          <a:lstStyle>
            <a:defPPr>
              <a:defRPr kern="1200"/>
            </a:defPPr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3C022C6C-C3BF-4CE1-8842-0AC5970173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810504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8A277C51-0625-40F0-8A02-D153CC2D70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85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1821438" y="1317625"/>
            <a:ext cx="9875837" cy="28087638"/>
          </a:xfrm>
        </p:spPr>
        <p:txBody>
          <a:bodyPr vert="eaVert"/>
          <a:lstStyle>
            <a:defPPr>
              <a:defRPr kern="1200"/>
            </a:def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193925" y="1317625"/>
            <a:ext cx="29475112" cy="28087638"/>
          </a:xfrm>
        </p:spPr>
        <p:txBody>
          <a:bodyPr vert="eaVert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defPPr>
              <a:defRPr kern="1200"/>
            </a:defPPr>
            <a:lvl1pPr>
              <a:defRPr/>
            </a:lvl1pPr>
          </a:lstStyle>
          <a:p>
            <a:pPr>
              <a:defRPr/>
            </a:pPr>
            <a:fld id="{6C9A1A37-7051-412A-8F35-8483CD8F48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170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93925" y="1317625"/>
            <a:ext cx="3950335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ctr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93925" y="7680325"/>
            <a:ext cx="39503350" cy="21724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93925" y="29976762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995525" y="29976762"/>
            <a:ext cx="139001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ctr"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1454725" y="29976762"/>
            <a:ext cx="10242550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70258" tIns="235129" rIns="470258" bIns="235129" anchor="t" anchorCtr="0" compatLnSpc="1">
            <a:prstTxWarp prst="textNoShape">
              <a:avLst/>
            </a:prstTxWarp>
          </a:bodyPr>
          <a:lstStyle>
            <a:defPPr>
              <a:defRPr kern="1200"/>
            </a:defPPr>
            <a:lvl1pPr algn="r" defTabSz="4702175">
              <a:defRPr sz="7200" smtClean="0">
                <a:latin typeface="Arial" pitchFamily="34" charset="0"/>
              </a:defRPr>
            </a:lvl1pPr>
          </a:lstStyle>
          <a:p>
            <a:pPr>
              <a:defRPr/>
            </a:pPr>
            <a:fld id="{25043CB6-A91D-4176-912B-555F54C38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New picture"/>
          <p:cNvPicPr/>
          <p:nvPr/>
        </p:nvPicPr>
        <p:blipFill>
          <a:blip r:embed="rId13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1032" name="New picture"/>
          <p:cNvPicPr/>
          <p:nvPr/>
        </p:nvPicPr>
        <p:blipFill>
          <a:blip r:embed="rId13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1033" name="New picture"/>
          <p:cNvPicPr/>
          <p:nvPr/>
        </p:nvPicPr>
        <p:blipFill>
          <a:blip r:embed="rId14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1034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conceptualizingcobalt  Size: 48x36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defPPr>
        <a:defRPr kern="1200"/>
      </a:defPPr>
      <a:lvl1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+mj-lt"/>
          <a:ea typeface="+mj-ea"/>
          <a:cs typeface="+mj-cs"/>
        </a:defRPr>
      </a:lvl1pPr>
      <a:lvl2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2pPr>
      <a:lvl3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3pPr>
      <a:lvl4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4pPr>
      <a:lvl5pPr algn="ctr" defTabSz="4702175" rtl="0" eaLnBrk="0" fontAlgn="base" hangingPunct="0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5pPr>
      <a:lvl6pPr marL="4572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6pPr>
      <a:lvl7pPr marL="9144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7pPr>
      <a:lvl8pPr marL="13716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8pPr>
      <a:lvl9pPr marL="1828800" algn="ctr" defTabSz="4702175" rtl="0" fontAlgn="base">
        <a:spcBef>
          <a:spcPct val="0"/>
        </a:spcBef>
        <a:spcAft>
          <a:spcPct val="0"/>
        </a:spcAft>
        <a:defRPr sz="22600">
          <a:solidFill>
            <a:schemeClr val="tx2"/>
          </a:solidFill>
          <a:latin typeface="Arial" pitchFamily="34" charset="0"/>
        </a:defRPr>
      </a:lvl9pPr>
    </p:titleStyle>
    <p:bodyStyle>
      <a:defPPr>
        <a:defRPr kern="1200"/>
      </a:defPPr>
      <a:lvl1pPr marL="1763713" indent="-1763713" algn="l" defTabSz="4702175" rtl="0" eaLnBrk="0" fontAlgn="base" hangingPunct="0">
        <a:spcBef>
          <a:spcPct val="20000"/>
        </a:spcBef>
        <a:spcAft>
          <a:spcPct val="0"/>
        </a:spcAft>
        <a:buChar char="•"/>
        <a:defRPr sz="16500">
          <a:solidFill>
            <a:schemeClr val="tx1"/>
          </a:solidFill>
          <a:latin typeface="+mn-lt"/>
          <a:ea typeface="+mn-ea"/>
          <a:cs typeface="+mn-cs"/>
        </a:defRPr>
      </a:lvl1pPr>
      <a:lvl2pPr marL="3821113" indent="-1470025" algn="l" defTabSz="4702175" rtl="0" eaLnBrk="0" fontAlgn="base" hangingPunct="0">
        <a:spcBef>
          <a:spcPct val="20000"/>
        </a:spcBef>
        <a:spcAft>
          <a:spcPct val="0"/>
        </a:spcAft>
        <a:buChar char="–"/>
        <a:defRPr sz="14400">
          <a:solidFill>
            <a:schemeClr val="tx1"/>
          </a:solidFill>
          <a:latin typeface="+mn-lt"/>
        </a:defRPr>
      </a:lvl2pPr>
      <a:lvl3pPr marL="5878513" indent="-1176338" algn="l" defTabSz="4702175" rtl="0" eaLnBrk="0" fontAlgn="base" hangingPunct="0">
        <a:spcBef>
          <a:spcPct val="20000"/>
        </a:spcBef>
        <a:spcAft>
          <a:spcPct val="0"/>
        </a:spcAft>
        <a:buChar char="•"/>
        <a:defRPr sz="12300">
          <a:solidFill>
            <a:schemeClr val="tx1"/>
          </a:solidFill>
          <a:latin typeface="+mn-lt"/>
        </a:defRPr>
      </a:lvl3pPr>
      <a:lvl4pPr marL="8229600" indent="-1176338" algn="l" defTabSz="4702175" rtl="0" eaLnBrk="0" fontAlgn="base" hangingPunct="0">
        <a:spcBef>
          <a:spcPct val="20000"/>
        </a:spcBef>
        <a:spcAft>
          <a:spcPct val="0"/>
        </a:spcAft>
        <a:buChar char="–"/>
        <a:defRPr sz="10300">
          <a:solidFill>
            <a:schemeClr val="tx1"/>
          </a:solidFill>
          <a:latin typeface="+mn-lt"/>
        </a:defRPr>
      </a:lvl4pPr>
      <a:lvl5pPr marL="10580688" indent="-1174750" algn="l" defTabSz="4702175" rtl="0" eaLnBrk="0" fontAlgn="base" hangingPunct="0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5pPr>
      <a:lvl6pPr marL="110378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6pPr>
      <a:lvl7pPr marL="114950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7pPr>
      <a:lvl8pPr marL="119522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8pPr>
      <a:lvl9pPr marL="12409488" indent="-1174750" algn="l" defTabSz="4702175" rtl="0" fontAlgn="base">
        <a:spcBef>
          <a:spcPct val="20000"/>
        </a:spcBef>
        <a:spcAft>
          <a:spcPct val="0"/>
        </a:spcAft>
        <a:buChar char="»"/>
        <a:defRPr sz="103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13" Type="http://schemas.openxmlformats.org/officeDocument/2006/relationships/image" Target="../media/image14.png"/><Relationship Id="rId18" Type="http://schemas.openxmlformats.org/officeDocument/2006/relationships/image" Target="../media/image19.jpg"/><Relationship Id="rId26" Type="http://schemas.openxmlformats.org/officeDocument/2006/relationships/image" Target="../media/image27.sv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jpg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jpg"/><Relationship Id="rId24" Type="http://schemas.openxmlformats.org/officeDocument/2006/relationships/image" Target="../media/image25.svg"/><Relationship Id="rId32" Type="http://schemas.openxmlformats.org/officeDocument/2006/relationships/image" Target="../media/image33.sv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sv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" Type="http://schemas.openxmlformats.org/officeDocument/2006/relationships/image" Target="../media/image5.jp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svg"/><Relationship Id="rId27" Type="http://schemas.openxmlformats.org/officeDocument/2006/relationships/image" Target="../media/image28.png"/><Relationship Id="rId30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1E0E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-48494" y="0"/>
            <a:ext cx="43939693" cy="6533048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defPPr>
              <a:defRPr kern="1200"/>
            </a:defPPr>
          </a:lstStyle>
          <a:p>
            <a:endParaRPr lang="en-US"/>
          </a:p>
        </p:txBody>
      </p:sp>
      <p:sp>
        <p:nvSpPr>
          <p:cNvPr id="2" name="Rectangle 5"/>
          <p:cNvSpPr>
            <a:spLocks noChangeArrowheads="1"/>
          </p:cNvSpPr>
          <p:nvPr/>
        </p:nvSpPr>
        <p:spPr bwMode="auto">
          <a:xfrm>
            <a:off x="731520" y="7778234"/>
            <a:ext cx="10058400" cy="22939204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 dirty="0">
              <a:noFill/>
              <a:latin typeface="Amaranth" panose="02000503050000020004" pitchFamily="2" charset="0"/>
            </a:endParaRPr>
          </a:p>
        </p:txBody>
      </p:sp>
      <p:sp>
        <p:nvSpPr>
          <p:cNvPr id="33" name="Rectangle 29"/>
          <p:cNvSpPr>
            <a:spLocks noChangeArrowheads="1"/>
          </p:cNvSpPr>
          <p:nvPr/>
        </p:nvSpPr>
        <p:spPr bwMode="auto">
          <a:xfrm>
            <a:off x="-48492" y="31447268"/>
            <a:ext cx="43939693" cy="1471130"/>
          </a:xfrm>
          <a:prstGeom prst="rect">
            <a:avLst/>
          </a:prstGeom>
          <a:gradFill>
            <a:gsLst>
              <a:gs pos="5000">
                <a:srgbClr val="235078"/>
              </a:gs>
              <a:gs pos="100000">
                <a:srgbClr val="1482A5"/>
              </a:gs>
            </a:gsLst>
            <a:lin ang="0" scaled="1"/>
          </a:gradFill>
          <a:ln>
            <a:noFill/>
          </a:ln>
        </p:spPr>
        <p:txBody>
          <a:bodyPr lIns="137160" tIns="68580" rIns="137160" bIns="68580" anchor="ctr"/>
          <a:lstStyle>
            <a:defPPr>
              <a:defRPr kern="1200"/>
            </a:defPPr>
          </a:lstStyle>
          <a:p>
            <a:pPr defTabSz="4703763"/>
            <a:endParaRPr lang="en-US">
              <a:solidFill>
                <a:schemeClr val="bg1"/>
              </a:solidFill>
              <a:sym typeface="Symbol" pitchFamily="18" charset="2"/>
            </a:endParaRPr>
          </a:p>
        </p:txBody>
      </p:sp>
      <p:sp>
        <p:nvSpPr>
          <p:cNvPr id="31" name="Title 11">
            <a:extLst>
              <a:ext uri="{FF2B5EF4-FFF2-40B4-BE49-F238E27FC236}">
                <a16:creationId xmlns:a16="http://schemas.microsoft.com/office/drawing/2014/main" id="{A3F6428D-1FA6-42BA-BAEA-3577E1620F6B}"/>
              </a:ext>
            </a:extLst>
          </p:cNvPr>
          <p:cNvSpPr txBox="1"/>
          <p:nvPr/>
        </p:nvSpPr>
        <p:spPr>
          <a:xfrm>
            <a:off x="1005840" y="792385"/>
            <a:ext cx="411480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8500" dirty="0">
              <a:solidFill>
                <a:schemeClr val="bg1"/>
              </a:solidFill>
              <a:latin typeface="Amaranth" panose="02000503050000020004" pitchFamily="2" charset="0"/>
            </a:endParaRPr>
          </a:p>
        </p:txBody>
      </p:sp>
      <p:sp>
        <p:nvSpPr>
          <p:cNvPr id="35" name="Text Placeholder 16">
            <a:extLst>
              <a:ext uri="{FF2B5EF4-FFF2-40B4-BE49-F238E27FC236}">
                <a16:creationId xmlns:a16="http://schemas.microsoft.com/office/drawing/2014/main" id="{30C08963-BE29-4B96-B122-F15F02A3F7E3}"/>
              </a:ext>
            </a:extLst>
          </p:cNvPr>
          <p:cNvSpPr txBox="1"/>
          <p:nvPr/>
        </p:nvSpPr>
        <p:spPr>
          <a:xfrm>
            <a:off x="13095830" y="3384218"/>
            <a:ext cx="17699537" cy="4093428"/>
          </a:xfrm>
          <a:prstGeom prst="rect">
            <a:avLst/>
          </a:prstGeom>
        </p:spPr>
        <p:txBody>
          <a:bodyPr wrap="square"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600" dirty="0">
                <a:solidFill>
                  <a:schemeClr val="bg1"/>
                </a:solidFill>
                <a:latin typeface="Titillium Web" panose="00000500000000000000" pitchFamily="2" charset="0"/>
              </a:rPr>
              <a:t>By: Tom Steinman (University of Missouri-Kansas City)</a:t>
            </a:r>
          </a:p>
          <a:p>
            <a:pPr algn="ctr"/>
            <a:r>
              <a:rPr lang="en-US" sz="5600" dirty="0">
                <a:solidFill>
                  <a:schemeClr val="bg1"/>
                </a:solidFill>
                <a:latin typeface="Titillium Web" panose="00000500000000000000" pitchFamily="2" charset="0"/>
              </a:rPr>
              <a:t>&amp;</a:t>
            </a:r>
          </a:p>
          <a:p>
            <a:pPr algn="ctr"/>
            <a:r>
              <a:rPr lang="en-US" sz="5600" dirty="0">
                <a:solidFill>
                  <a:schemeClr val="bg1"/>
                </a:solidFill>
                <a:latin typeface="Titillium Web" panose="00000500000000000000" pitchFamily="2" charset="0"/>
              </a:rPr>
              <a:t>Thomas Jones (University of Missouri-Kansas City)</a:t>
            </a:r>
          </a:p>
          <a:p>
            <a:pPr algn="ctr"/>
            <a:endParaRPr lang="en-US" sz="5600" dirty="0">
              <a:solidFill>
                <a:schemeClr val="bg1"/>
              </a:solidFill>
              <a:latin typeface="Titillium Web" panose="00000500000000000000" pitchFamily="2" charset="0"/>
            </a:endParaRPr>
          </a:p>
        </p:txBody>
      </p:sp>
      <p:sp>
        <p:nvSpPr>
          <p:cNvPr id="17" name="Text Box 6">
            <a:extLst>
              <a:ext uri="{FF2B5EF4-FFF2-40B4-BE49-F238E27FC236}">
                <a16:creationId xmlns:a16="http://schemas.microsoft.com/office/drawing/2014/main" id="{8AE8A03B-3762-4AF2-A9FC-B088E0736F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5840" y="7925875"/>
            <a:ext cx="9347528" cy="2386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137160" tIns="68580" rIns="137160" bIns="68580">
            <a:spAutoFit/>
          </a:bodyPr>
          <a:lstStyle>
            <a:defPPr>
              <a:defRPr kern="1200"/>
            </a:defPPr>
            <a:lvl1pPr defTabSz="4703763" eaLnBrk="0" hangingPunct="0">
              <a:defRPr sz="9300">
                <a:solidFill>
                  <a:schemeClr val="tx1"/>
                </a:solidFill>
                <a:latin typeface="Arial"/>
              </a:defRPr>
            </a:lvl1pPr>
            <a:lvl2pPr marL="742950" indent="-28575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2pPr>
            <a:lvl3pPr marL="11430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3pPr>
            <a:lvl4pPr marL="16002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4pPr>
            <a:lvl5pPr marL="2057400" indent="-228600" defTabSz="4703763" eaLnBrk="0" hangingPunct="0">
              <a:defRPr sz="9300">
                <a:solidFill>
                  <a:schemeClr val="tx1"/>
                </a:solidFill>
                <a:latin typeface="Arial"/>
              </a:defRPr>
            </a:lvl5pPr>
            <a:lvl6pPr marL="25146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6pPr>
            <a:lvl7pPr marL="29718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7pPr>
            <a:lvl8pPr marL="34290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8pPr>
            <a:lvl9pPr marL="3886200" indent="-228600" defTabSz="4703763" eaLnBrk="0" fontAlgn="base" hangingPunct="0">
              <a:spcBef>
                <a:spcPct val="0"/>
              </a:spcBef>
              <a:spcAft>
                <a:spcPct val="0"/>
              </a:spcAft>
              <a:defRPr sz="9300">
                <a:solidFill>
                  <a:schemeClr val="tx1"/>
                </a:solidFill>
                <a:latin typeface="Arial"/>
              </a:defRPr>
            </a:lvl9pPr>
          </a:lstStyle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Genomes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genome is an organism’s full DNA blueprint—long strings over the alphabet A, C, G, T—encoding genes, regulatory elements, and structural signals across millions to billions of bases.</a:t>
            </a: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Nucleotides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These four letters (A/C/G/T) form the basic units. Their order determines biochemical function, from promoters and enhancers to protein-coding regions.</a:t>
            </a: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Codons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(3-mers in coding regions):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DNA is read in triplets during translation. Each codon maps to an amino acid (or stop), so codon usage bias reflects organismal preferences that affect expression efficiency and protein synthesis.</a:t>
            </a: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K-</a:t>
            </a:r>
            <a:r>
              <a:rPr lang="en-US" sz="2600" b="1" u="sng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mers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(fixed-length substrings):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/>
              <a:t>Short overlapping DNA fragments whose frequency patterns act like a genomic fingerprint, enabling fast comparison and search.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Why it matters biologically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k-</a:t>
            </a:r>
            <a:r>
              <a:rPr lang="en-US" sz="2600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mer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and codon patterns reveal evolutionary signals, GC content shifts, repeats, horizontal transfer, and expression/translation constraints, supporting tasks from variant calling to comparative genomics.</a:t>
            </a: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Why distributed/parallel computing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modern datasets (e.g., pan-genomes, metagenomes) are terabytes; computing k-</a:t>
            </a:r>
            <a:r>
              <a:rPr lang="en-US" sz="2600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mer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counts and codon tables requires parallel map (local counting) and reduce (global aggregation) across billions of substrings—an ideal fit for Spark/MapReduce.</a:t>
            </a: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Impact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scalable pipelines turn raw sequences into vectorized features for search, clustering, anomaly detection, and visualization, enabling rapid iteration over large collections (e.g., OpenGenome2) that are impractical on a single machine.</a:t>
            </a:r>
          </a:p>
          <a:p>
            <a:r>
              <a:rPr lang="en-US" sz="2600" b="1" u="sng" dirty="0">
                <a:latin typeface="+mn-lt"/>
              </a:rPr>
              <a:t>Takeaway</a:t>
            </a:r>
            <a:r>
              <a:rPr lang="en-US" sz="2600" dirty="0">
                <a:latin typeface="+mn-lt"/>
              </a:rPr>
              <a:t>: </a:t>
            </a:r>
          </a:p>
          <a:p>
            <a:r>
              <a:rPr lang="en-US" sz="2600" dirty="0">
                <a:latin typeface="+mn-lt"/>
              </a:rPr>
              <a:t>combining biological signal (codons/k-</a:t>
            </a:r>
            <a:r>
              <a:rPr lang="en-US" sz="2600" dirty="0" err="1">
                <a:latin typeface="+mn-lt"/>
              </a:rPr>
              <a:t>mers</a:t>
            </a:r>
            <a:r>
              <a:rPr lang="en-US" sz="2600" dirty="0">
                <a:latin typeface="+mn-lt"/>
              </a:rPr>
              <a:t>) with distributed systems yields reproducible, high-throughput analytics that power both foundational biology and real-world applications (diagnostics, surveillance, and genome engineering).</a:t>
            </a:r>
            <a:endParaRPr lang="en-US" sz="2600" dirty="0"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2600" b="1" u="sng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Dataset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OpenGenome2 (Organelles only at this time)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Contains millions of DNA sequences from a wide variety of bacterial, archaeal, viral, organelle, and metagenomic sources.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Distributed as multiple partitions/shards to support parallel and cluster-based processing (ideal for Spark, </a:t>
            </a:r>
            <a:r>
              <a:rPr lang="en-US" sz="2600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Dask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, Ray, HPC).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Each record typically includes: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A sequence identifier, a raw nucleotide sequence, metadata describing organism/source where available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Sequences vary in length: includes short fragments, full genes, organelle genomes (e.g., mitochondrial &amp; chloroplast), and other structured genomic components.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Well-suited for: k-</a:t>
            </a:r>
            <a:r>
              <a:rPr lang="en-US" sz="2600" dirty="0" err="1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mer</a:t>
            </a:r>
            <a:r>
              <a:rPr lang="en-US" sz="2600" dirty="0">
                <a:latin typeface="+mn-lt"/>
                <a:ea typeface="Open Sans" panose="020B0606030504020204" pitchFamily="34" charset="0"/>
                <a:cs typeface="Open Sans" panose="020B0606030504020204" pitchFamily="34" charset="0"/>
              </a:rPr>
              <a:t> frequency analysis, Codon usage profiling, Comparative genomics, Sequence similarity search / clustering</a:t>
            </a:r>
          </a:p>
        </p:txBody>
      </p:sp>
      <p:sp>
        <p:nvSpPr>
          <p:cNvPr id="230" name="TextBox 229">
            <a:extLst>
              <a:ext uri="{FF2B5EF4-FFF2-40B4-BE49-F238E27FC236}">
                <a16:creationId xmlns:a16="http://schemas.microsoft.com/office/drawing/2014/main" id="{AD2E301E-E7B3-4BB5-B48D-F76D6F65BBE3}"/>
              </a:ext>
            </a:extLst>
          </p:cNvPr>
          <p:cNvSpPr txBox="1"/>
          <p:nvPr/>
        </p:nvSpPr>
        <p:spPr>
          <a:xfrm>
            <a:off x="33157855" y="8073317"/>
            <a:ext cx="98570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graphs, and images to this section.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F62BC5FF-C2FC-3B65-DD89-BC40BCA0F1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438" y="7778234"/>
            <a:ext cx="10058400" cy="22939204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 dirty="0">
              <a:noFill/>
              <a:latin typeface="Amaranth" panose="02000503050000020004" pitchFamily="2" charset="0"/>
            </a:endParaRP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FE9A488-00A8-6D3D-C816-A2AD83936F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1356" y="7778234"/>
            <a:ext cx="10058400" cy="22939204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 dirty="0">
              <a:noFill/>
              <a:latin typeface="Amaranth" panose="02000503050000020004" pitchFamily="2" charset="0"/>
            </a:endParaRPr>
          </a:p>
        </p:txBody>
      </p:sp>
      <p:sp>
        <p:nvSpPr>
          <p:cNvPr id="36" name="Rectangle 5">
            <a:extLst>
              <a:ext uri="{FF2B5EF4-FFF2-40B4-BE49-F238E27FC236}">
                <a16:creationId xmlns:a16="http://schemas.microsoft.com/office/drawing/2014/main" id="{98FCC399-CA5D-4873-B45E-22BAE0F51D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1440" y="7125252"/>
            <a:ext cx="10058400" cy="78422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Methodology</a:t>
            </a:r>
          </a:p>
        </p:txBody>
      </p:sp>
      <p:sp>
        <p:nvSpPr>
          <p:cNvPr id="38" name="Rectangle 5">
            <a:extLst>
              <a:ext uri="{FF2B5EF4-FFF2-40B4-BE49-F238E27FC236}">
                <a16:creationId xmlns:a16="http://schemas.microsoft.com/office/drawing/2014/main" id="{991B9DF0-7DD4-4C17-94B6-6C493D1C3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11361" y="7125252"/>
            <a:ext cx="10058400" cy="78422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Results</a:t>
            </a:r>
          </a:p>
        </p:txBody>
      </p:sp>
      <p:sp>
        <p:nvSpPr>
          <p:cNvPr id="16" name="Rectangle 5">
            <a:extLst>
              <a:ext uri="{FF2B5EF4-FFF2-40B4-BE49-F238E27FC236}">
                <a16:creationId xmlns:a16="http://schemas.microsoft.com/office/drawing/2014/main" id="{620C51D2-3423-4C6C-A077-34B27F321D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7125251"/>
            <a:ext cx="10058400" cy="78422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Introduction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6F27183-05DC-7926-2E7F-80329853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1279" y="7778234"/>
            <a:ext cx="10058400" cy="19575194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 dirty="0">
              <a:noFill/>
              <a:latin typeface="Amaranth" panose="02000503050000020004" pitchFamily="2" charset="0"/>
            </a:endParaRPr>
          </a:p>
        </p:txBody>
      </p:sp>
      <p:sp>
        <p:nvSpPr>
          <p:cNvPr id="42" name="Rectangle 5">
            <a:extLst>
              <a:ext uri="{FF2B5EF4-FFF2-40B4-BE49-F238E27FC236}">
                <a16:creationId xmlns:a16="http://schemas.microsoft.com/office/drawing/2014/main" id="{C08CCD14-6632-49E3-A19B-81E98D465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1279" y="7125252"/>
            <a:ext cx="10058400" cy="78422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Conclusion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A6E8A7-7867-437D-9F5E-FBE32907A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1272" y="28520833"/>
            <a:ext cx="10058407" cy="2453329"/>
          </a:xfrm>
          <a:prstGeom prst="roundRect">
            <a:avLst>
              <a:gd name="adj" fmla="val 1380"/>
            </a:avLst>
          </a:prstGeom>
          <a:solidFill>
            <a:srgbClr val="B4D3E2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defTabSz="4703763"/>
            <a:endParaRPr lang="en-US" sz="3600" dirty="0">
              <a:noFill/>
              <a:latin typeface="Amaranth" panose="02000503050000020004" pitchFamily="2" charset="0"/>
            </a:endParaRPr>
          </a:p>
        </p:txBody>
      </p:sp>
      <p:sp>
        <p:nvSpPr>
          <p:cNvPr id="46" name="Rectangle 5">
            <a:extLst>
              <a:ext uri="{FF2B5EF4-FFF2-40B4-BE49-F238E27FC236}">
                <a16:creationId xmlns:a16="http://schemas.microsoft.com/office/drawing/2014/main" id="{88D57C6D-9B7C-4799-9EEF-AD493DF30E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1272" y="27736608"/>
            <a:ext cx="10058400" cy="784225"/>
          </a:xfrm>
          <a:prstGeom prst="rect">
            <a:avLst/>
          </a:prstGeom>
          <a:solidFill>
            <a:srgbClr val="1482A5"/>
          </a:solidFill>
          <a:ln>
            <a:noFill/>
          </a:ln>
          <a:effectLst/>
        </p:spPr>
        <p:txBody>
          <a:bodyPr wrap="none" lIns="274320" tIns="68580" rIns="274320" bIns="68580" anchor="ctr"/>
          <a:lstStyle>
            <a:defPPr>
              <a:defRPr kern="1200"/>
            </a:defPPr>
          </a:lstStyle>
          <a:p>
            <a:pPr algn="ctr" defTabSz="4703763"/>
            <a:r>
              <a:rPr lang="en-US" sz="3600" dirty="0">
                <a:solidFill>
                  <a:schemeClr val="bg1"/>
                </a:solidFill>
                <a:latin typeface="Amaranth" panose="02000503050000020004" pitchFamily="2" charset="0"/>
              </a:rPr>
              <a:t>Acknowledgements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CAAB63-989A-63F9-C521-05652E293279}"/>
              </a:ext>
            </a:extLst>
          </p:cNvPr>
          <p:cNvSpPr txBox="1"/>
          <p:nvPr/>
        </p:nvSpPr>
        <p:spPr>
          <a:xfrm>
            <a:off x="9680842" y="145522"/>
            <a:ext cx="24529515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u="sng" dirty="0">
                <a:solidFill>
                  <a:schemeClr val="bg1"/>
                </a:solidFill>
              </a:rPr>
              <a:t>Distributed Genomic Search and Sequence Analysis Using Apache Spark</a:t>
            </a:r>
          </a:p>
        </p:txBody>
      </p:sp>
      <p:pic>
        <p:nvPicPr>
          <p:cNvPr id="10" name="Picture 9" descr="A blue and white logo&#10;&#10;AI-generated content may be incorrect.">
            <a:extLst>
              <a:ext uri="{FF2B5EF4-FFF2-40B4-BE49-F238E27FC236}">
                <a16:creationId xmlns:a16="http://schemas.microsoft.com/office/drawing/2014/main" id="{4F24F54D-552F-E57B-F313-EA69560C28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66297" y="8083101"/>
            <a:ext cx="3519598" cy="2001584"/>
          </a:xfrm>
          <a:prstGeom prst="rect">
            <a:avLst/>
          </a:prstGeom>
        </p:spPr>
      </p:pic>
      <p:pic>
        <p:nvPicPr>
          <p:cNvPr id="12" name="Picture 11" descr="A blue circle with a white outline and a magnifying glass&#10;&#10;AI-generated content may be incorrect.">
            <a:extLst>
              <a:ext uri="{FF2B5EF4-FFF2-40B4-BE49-F238E27FC236}">
                <a16:creationId xmlns:a16="http://schemas.microsoft.com/office/drawing/2014/main" id="{8B6F1EBE-29A3-6D03-7BF2-9D2977DAD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85897" y="8083101"/>
            <a:ext cx="2001584" cy="2001584"/>
          </a:xfrm>
          <a:prstGeom prst="rect">
            <a:avLst/>
          </a:prstGeom>
        </p:spPr>
      </p:pic>
      <p:pic>
        <p:nvPicPr>
          <p:cNvPr id="14" name="Picture 13" descr="A close-up of a dna&#10;&#10;AI-generated content may be incorrect.">
            <a:extLst>
              <a:ext uri="{FF2B5EF4-FFF2-40B4-BE49-F238E27FC236}">
                <a16:creationId xmlns:a16="http://schemas.microsoft.com/office/drawing/2014/main" id="{5CC4249A-A648-B151-66F5-FE16BEA667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8933" y="8083101"/>
            <a:ext cx="3437493" cy="2033513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C4873431-B9FC-8C9A-AAEC-D4F6BBA6ED6F}"/>
              </a:ext>
            </a:extLst>
          </p:cNvPr>
          <p:cNvSpPr/>
          <p:nvPr/>
        </p:nvSpPr>
        <p:spPr bwMode="auto">
          <a:xfrm>
            <a:off x="16002000" y="10116614"/>
            <a:ext cx="1047750" cy="10276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AB75EDF-F6E6-F0B9-9126-DF4CCC2E5F7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03645" y="11329871"/>
            <a:ext cx="2288705" cy="2560681"/>
          </a:xfrm>
          <a:prstGeom prst="rect">
            <a:avLst/>
          </a:prstGeom>
        </p:spPr>
      </p:pic>
      <p:sp>
        <p:nvSpPr>
          <p:cNvPr id="21" name="Arrow: Down 20">
            <a:extLst>
              <a:ext uri="{FF2B5EF4-FFF2-40B4-BE49-F238E27FC236}">
                <a16:creationId xmlns:a16="http://schemas.microsoft.com/office/drawing/2014/main" id="{F5D8EB15-F915-290A-4266-7620573BDD04}"/>
              </a:ext>
            </a:extLst>
          </p:cNvPr>
          <p:cNvSpPr/>
          <p:nvPr/>
        </p:nvSpPr>
        <p:spPr bwMode="auto">
          <a:xfrm rot="16200000">
            <a:off x="15891092" y="12150231"/>
            <a:ext cx="1047750" cy="10276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3" name="Picture 22" descr="A logo of a tile&#10;&#10;AI-generated content may be incorrect.">
            <a:extLst>
              <a:ext uri="{FF2B5EF4-FFF2-40B4-BE49-F238E27FC236}">
                <a16:creationId xmlns:a16="http://schemas.microsoft.com/office/drawing/2014/main" id="{57E81BDC-CADF-85F6-82D5-18B09A9892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37585" y="11536991"/>
            <a:ext cx="3381174" cy="2254116"/>
          </a:xfrm>
          <a:prstGeom prst="rect">
            <a:avLst/>
          </a:prstGeom>
        </p:spPr>
      </p:pic>
      <p:sp>
        <p:nvSpPr>
          <p:cNvPr id="24" name="Arrow: Down 23">
            <a:extLst>
              <a:ext uri="{FF2B5EF4-FFF2-40B4-BE49-F238E27FC236}">
                <a16:creationId xmlns:a16="http://schemas.microsoft.com/office/drawing/2014/main" id="{B92F6B0E-08B0-AFDE-0DF8-B06B90D29D37}"/>
              </a:ext>
            </a:extLst>
          </p:cNvPr>
          <p:cNvSpPr/>
          <p:nvPr/>
        </p:nvSpPr>
        <p:spPr bwMode="auto">
          <a:xfrm>
            <a:off x="16001999" y="13982677"/>
            <a:ext cx="1047750" cy="10276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9858DFA1-F00A-50BA-EA2A-E47F712659D7}"/>
              </a:ext>
            </a:extLst>
          </p:cNvPr>
          <p:cNvSpPr/>
          <p:nvPr/>
        </p:nvSpPr>
        <p:spPr bwMode="auto">
          <a:xfrm>
            <a:off x="16026763" y="18980988"/>
            <a:ext cx="1047750" cy="10276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29" name="Picture 28" descr="A logo on a computer&#10;&#10;AI-generated content may be incorrect.">
            <a:extLst>
              <a:ext uri="{FF2B5EF4-FFF2-40B4-BE49-F238E27FC236}">
                <a16:creationId xmlns:a16="http://schemas.microsoft.com/office/drawing/2014/main" id="{A831AC08-110B-1307-F967-0613EF19C56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7601" y="15803930"/>
            <a:ext cx="5512428" cy="3100741"/>
          </a:xfrm>
          <a:prstGeom prst="rect">
            <a:avLst/>
          </a:prstGeom>
        </p:spPr>
      </p:pic>
      <p:pic>
        <p:nvPicPr>
          <p:cNvPr id="34" name="Picture 33" descr="A diagram of a diagram of a diagram&#10;&#10;AI-generated content may be incorrect.">
            <a:extLst>
              <a:ext uri="{FF2B5EF4-FFF2-40B4-BE49-F238E27FC236}">
                <a16:creationId xmlns:a16="http://schemas.microsoft.com/office/drawing/2014/main" id="{41D0CB0D-D28D-39CD-9DE4-714034D2B6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7571" y="20598761"/>
            <a:ext cx="4809061" cy="2706549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00AE683D-F82C-18ED-23B7-712B88566E66}"/>
              </a:ext>
            </a:extLst>
          </p:cNvPr>
          <p:cNvSpPr txBox="1"/>
          <p:nvPr/>
        </p:nvSpPr>
        <p:spPr>
          <a:xfrm>
            <a:off x="14753213" y="20127723"/>
            <a:ext cx="359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Search Algorithms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00C37DD-D2CD-09C8-03E9-01CA02B4163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653804" y="20593225"/>
            <a:ext cx="3381174" cy="2747204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91D20201-4233-7EF4-6C2B-AD1481921C9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793784" y="23340429"/>
            <a:ext cx="5462105" cy="2669159"/>
          </a:xfrm>
          <a:prstGeom prst="rect">
            <a:avLst/>
          </a:prstGeom>
        </p:spPr>
      </p:pic>
      <p:sp>
        <p:nvSpPr>
          <p:cNvPr id="47" name="Arrow: Down 46">
            <a:extLst>
              <a:ext uri="{FF2B5EF4-FFF2-40B4-BE49-F238E27FC236}">
                <a16:creationId xmlns:a16="http://schemas.microsoft.com/office/drawing/2014/main" id="{B35BBAA3-7629-9F6C-2F97-5CF4D7009D2A}"/>
              </a:ext>
            </a:extLst>
          </p:cNvPr>
          <p:cNvSpPr/>
          <p:nvPr/>
        </p:nvSpPr>
        <p:spPr bwMode="auto">
          <a:xfrm>
            <a:off x="16026763" y="26217600"/>
            <a:ext cx="1047750" cy="1027636"/>
          </a:xfrm>
          <a:prstGeom prst="downArrow">
            <a:avLst/>
          </a:prstGeom>
          <a:solidFill>
            <a:schemeClr val="accent6">
              <a:lumMod val="5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7021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49" name="Picture 48" descr="A book with magnifying glass and icons around it&#10;&#10;AI-generated content may be incorrect.">
            <a:extLst>
              <a:ext uri="{FF2B5EF4-FFF2-40B4-BE49-F238E27FC236}">
                <a16:creationId xmlns:a16="http://schemas.microsoft.com/office/drawing/2014/main" id="{907A9461-5891-D107-0C65-D820076DDF8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5283" y="27321553"/>
            <a:ext cx="5639108" cy="3157901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350D6D5-3ADE-2D78-F331-952E627DA50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14670" y="8069850"/>
            <a:ext cx="9340273" cy="1579698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3D1C036F-128F-1AB2-2970-A2E1C99A7CC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614670" y="9792312"/>
            <a:ext cx="9340273" cy="55680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60414E8C-1BDA-96D6-CC9F-2AC0F8290793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2573210" y="15540037"/>
            <a:ext cx="9423191" cy="4880297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30770EF7-2E0E-6A94-50AE-4848CC167CA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4305495" y="20593225"/>
            <a:ext cx="5958619" cy="330851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C6C0E559-50C0-1FBE-81DB-142B8FFAE3F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2941916" y="23924338"/>
            <a:ext cx="8685776" cy="3169608"/>
          </a:xfrm>
          <a:prstGeom prst="rect">
            <a:avLst/>
          </a:prstGeom>
        </p:spPr>
      </p:pic>
      <p:pic>
        <p:nvPicPr>
          <p:cNvPr id="63" name="Picture 62" descr="A graph of a number of codes&#10;&#10;AI-generated content may be incorrect.">
            <a:extLst>
              <a:ext uri="{FF2B5EF4-FFF2-40B4-BE49-F238E27FC236}">
                <a16:creationId xmlns:a16="http://schemas.microsoft.com/office/drawing/2014/main" id="{E66989B0-C9B8-9677-420E-323A7ABAA32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8205" y="27169120"/>
            <a:ext cx="3954579" cy="3462766"/>
          </a:xfrm>
          <a:prstGeom prst="rect">
            <a:avLst/>
          </a:prstGeom>
        </p:spPr>
      </p:pic>
      <p:sp>
        <p:nvSpPr>
          <p:cNvPr id="192" name="TextBox 191">
            <a:extLst>
              <a:ext uri="{FF2B5EF4-FFF2-40B4-BE49-F238E27FC236}">
                <a16:creationId xmlns:a16="http://schemas.microsoft.com/office/drawing/2014/main" id="{100CBB87-0935-7F9B-919F-85FBACC20B4D}"/>
              </a:ext>
            </a:extLst>
          </p:cNvPr>
          <p:cNvSpPr txBox="1"/>
          <p:nvPr/>
        </p:nvSpPr>
        <p:spPr>
          <a:xfrm>
            <a:off x="26555700" y="27532804"/>
            <a:ext cx="5638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What is RSCU (Relative Synonymous</a:t>
            </a:r>
          </a:p>
          <a:p>
            <a:r>
              <a:rPr lang="en-US" sz="2400" b="1" dirty="0"/>
              <a:t>Codon Usage)?</a:t>
            </a:r>
          </a:p>
          <a:p>
            <a:r>
              <a:rPr lang="en-US" sz="2400" dirty="0"/>
              <a:t>• RSCU measures how often a codon is used relative to how often it would be used if all synonymous codons for</a:t>
            </a:r>
          </a:p>
          <a:p>
            <a:r>
              <a:rPr lang="en-US" sz="2400" dirty="0"/>
              <a:t>that amino acid were used equally.</a:t>
            </a: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2C6E9F3E-3183-4639-8BD4-4D30DDD1A58D}"/>
              </a:ext>
            </a:extLst>
          </p:cNvPr>
          <p:cNvSpPr txBox="1"/>
          <p:nvPr/>
        </p:nvSpPr>
        <p:spPr>
          <a:xfrm>
            <a:off x="33230249" y="28593966"/>
            <a:ext cx="98570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latin typeface="Titillium Web" panose="00000500000000000000" pitchFamily="2" charset="0"/>
                <a:ea typeface="Open Sans" panose="020B0606030504020204" pitchFamily="34" charset="0"/>
                <a:cs typeface="Open Sans" panose="020B0606030504020204" pitchFamily="34" charset="0"/>
              </a:rPr>
              <a:t>Special thanks to Dr. Yusuf Sarwar for the opportunity and knowledge he has provided to engage in this work. </a:t>
            </a:r>
          </a:p>
        </p:txBody>
      </p:sp>
      <p:pic>
        <p:nvPicPr>
          <p:cNvPr id="193" name="Picture 192" descr="A blue and yellow logo&#10;&#10;AI-generated content may be incorrect.">
            <a:extLst>
              <a:ext uri="{FF2B5EF4-FFF2-40B4-BE49-F238E27FC236}">
                <a16:creationId xmlns:a16="http://schemas.microsoft.com/office/drawing/2014/main" id="{B9D18701-DA1C-1B96-7925-0F29569AD2D8}"/>
              </a:ext>
            </a:extLst>
          </p:cNvPr>
          <p:cNvPicPr>
            <a:picLocks noChangeAspect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8634" y="29160595"/>
            <a:ext cx="2106726" cy="1622179"/>
          </a:xfrm>
          <a:prstGeom prst="rect">
            <a:avLst/>
          </a:prstGeom>
        </p:spPr>
      </p:pic>
      <p:sp>
        <p:nvSpPr>
          <p:cNvPr id="194" name="TextBox 193">
            <a:extLst>
              <a:ext uri="{FF2B5EF4-FFF2-40B4-BE49-F238E27FC236}">
                <a16:creationId xmlns:a16="http://schemas.microsoft.com/office/drawing/2014/main" id="{E07BF8AF-4FDB-E4CE-2776-FDEFC8F3B7D8}"/>
              </a:ext>
            </a:extLst>
          </p:cNvPr>
          <p:cNvSpPr txBox="1"/>
          <p:nvPr/>
        </p:nvSpPr>
        <p:spPr>
          <a:xfrm>
            <a:off x="33359779" y="8144399"/>
            <a:ext cx="9655111" cy="19297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This project demonstrates that large-scale genomic sequence analysis can be effectively performed using distributed computing techniques.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By converting organelle genome data from the OpenGenome2 dataset into a Spark-friendly format and computing k-</a:t>
            </a:r>
            <a:r>
              <a:rPr lang="en-US" sz="2600" dirty="0" err="1"/>
              <a:t>mer</a:t>
            </a:r>
            <a:r>
              <a:rPr lang="en-US" sz="2600" dirty="0"/>
              <a:t> frequency distributions and codon usage profiles, we showed how MapReduce-style workflows can extract biologically meaningful patterns at scale.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We also implemented sequence similarity search using vectorized k-</a:t>
            </a:r>
            <a:r>
              <a:rPr lang="en-US" sz="2600" dirty="0" err="1"/>
              <a:t>mer</a:t>
            </a:r>
            <a:r>
              <a:rPr lang="en-US" sz="2600" dirty="0"/>
              <a:t> term-frequency representations, enabling retrieval of closest-matching sequences based on cosine similarity.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These results highlight that distributed computation is not only necessary for handling datasets of this size, but also provides meaningful biological insights into sequence structure, composition, and relatedness.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Fast and scalable sequence search is increasingly important in modern genomics because biological databases are growing exponentially with ongoing sequencing efforts. Researchers often need to: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identify unknown sequences,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compare genomes across species,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trace evolutionary relationships, or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600" dirty="0"/>
              <a:t>detect mutations linked to disease.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Traditional search and alignment tools work well for small datasets but become prohibitively slow as genomic repositories reach terabyte and petabyte scale. By demonstrating how distributed computing can parallelize k-</a:t>
            </a:r>
            <a:r>
              <a:rPr lang="en-US" sz="2600" dirty="0" err="1"/>
              <a:t>mer</a:t>
            </a:r>
            <a:r>
              <a:rPr lang="en-US" sz="2600" dirty="0"/>
              <a:t> extraction, normalization, and similarity search, this project shows a pathway toward real-time or near-real-time genomic querying—an essential capability for comparative genomics, pathogen surveillance, and personalized medicine.</a:t>
            </a:r>
          </a:p>
          <a:p>
            <a:endParaRPr lang="en-US" sz="2600" dirty="0"/>
          </a:p>
          <a:p>
            <a:r>
              <a:rPr lang="en-US" sz="2600" b="1" u="sng" dirty="0"/>
              <a:t>Future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Scale from organelle subset → full OpenGenome2 dataset using cluster execution (e.g., UMKC Hellbender Cluster).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Expand sequence search to include: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/>
              <a:t>Jaccard similarity search (set-based comparison)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/>
              <a:t>Local alignment or approximate edit-distance methods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/>
              <a:t>Learned embeddings (e.g., DNA2Vec, k-</a:t>
            </a:r>
            <a:r>
              <a:rPr lang="en-US" sz="2600" dirty="0" err="1"/>
              <a:t>mer</a:t>
            </a:r>
            <a:r>
              <a:rPr lang="en-US" sz="2600" dirty="0"/>
              <a:t> transformers)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Add biological annotation context such as gene boundaries, translation frame information, and organism taxonomy for deeper comparative genomics.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600" dirty="0"/>
              <a:t>Optimize performance with: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/>
              <a:t>broadcast indexing for top-k retrieval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600" dirty="0"/>
              <a:t>Build a user-facing query interface (web tool or command-line API) for interactive sequence search and visualization.</a:t>
            </a:r>
          </a:p>
        </p:txBody>
      </p:sp>
      <p:pic>
        <p:nvPicPr>
          <p:cNvPr id="196" name="Picture 195" descr="A diagram of dna structure&#10;&#10;AI-generated content may be incorrect.">
            <a:extLst>
              <a:ext uri="{FF2B5EF4-FFF2-40B4-BE49-F238E27FC236}">
                <a16:creationId xmlns:a16="http://schemas.microsoft.com/office/drawing/2014/main" id="{144ED988-8394-4FF3-7D92-3EE3405DAFE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6995" y="868104"/>
            <a:ext cx="7158359" cy="5010851"/>
          </a:xfrm>
          <a:prstGeom prst="rect">
            <a:avLst/>
          </a:prstGeom>
        </p:spPr>
      </p:pic>
      <p:pic>
        <p:nvPicPr>
          <p:cNvPr id="198" name="Picture 197" descr="A diagram of a cell division&#10;&#10;AI-generated content may be incorrect.">
            <a:extLst>
              <a:ext uri="{FF2B5EF4-FFF2-40B4-BE49-F238E27FC236}">
                <a16:creationId xmlns:a16="http://schemas.microsoft.com/office/drawing/2014/main" id="{B76E215B-F294-3FA6-E3F5-77F77AB48F8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96688" y="742056"/>
            <a:ext cx="8908180" cy="50108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2326F10-78A7-E906-5CEB-0F9ED3698792}"/>
              </a:ext>
            </a:extLst>
          </p:cNvPr>
          <p:cNvSpPr txBox="1"/>
          <p:nvPr/>
        </p:nvSpPr>
        <p:spPr>
          <a:xfrm>
            <a:off x="14789264" y="15312639"/>
            <a:ext cx="35948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/>
              <a:t>MapReduce</a:t>
            </a:r>
          </a:p>
        </p:txBody>
      </p:sp>
      <p:pic>
        <p:nvPicPr>
          <p:cNvPr id="11" name="Graphic 10" descr="Badge 1 with solid fill">
            <a:extLst>
              <a:ext uri="{FF2B5EF4-FFF2-40B4-BE49-F238E27FC236}">
                <a16:creationId xmlns:a16="http://schemas.microsoft.com/office/drawing/2014/main" id="{BE51B425-A73F-2B48-C298-4200B3C63A1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428152" y="8007239"/>
            <a:ext cx="914400" cy="914400"/>
          </a:xfrm>
          <a:prstGeom prst="rect">
            <a:avLst/>
          </a:prstGeom>
        </p:spPr>
      </p:pic>
      <p:pic>
        <p:nvPicPr>
          <p:cNvPr id="18" name="Graphic 17" descr="Badge with solid fill">
            <a:extLst>
              <a:ext uri="{FF2B5EF4-FFF2-40B4-BE49-F238E27FC236}">
                <a16:creationId xmlns:a16="http://schemas.microsoft.com/office/drawing/2014/main" id="{12693AE7-30AA-F1D4-81D2-74AB07FAC5D0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495344" y="11171010"/>
            <a:ext cx="914400" cy="914400"/>
          </a:xfrm>
          <a:prstGeom prst="rect">
            <a:avLst/>
          </a:prstGeom>
        </p:spPr>
      </p:pic>
      <p:pic>
        <p:nvPicPr>
          <p:cNvPr id="22" name="Graphic 21" descr="Badge 3 with solid fill">
            <a:extLst>
              <a:ext uri="{FF2B5EF4-FFF2-40B4-BE49-F238E27FC236}">
                <a16:creationId xmlns:a16="http://schemas.microsoft.com/office/drawing/2014/main" id="{20F5D33B-E3FA-D214-D99C-7F7EBAEE8A83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6778396" y="11171010"/>
            <a:ext cx="914400" cy="914400"/>
          </a:xfrm>
          <a:prstGeom prst="rect">
            <a:avLst/>
          </a:prstGeom>
        </p:spPr>
      </p:pic>
      <p:pic>
        <p:nvPicPr>
          <p:cNvPr id="26" name="Graphic 25" descr="Badge 4 with solid fill">
            <a:extLst>
              <a:ext uri="{FF2B5EF4-FFF2-40B4-BE49-F238E27FC236}">
                <a16:creationId xmlns:a16="http://schemas.microsoft.com/office/drawing/2014/main" id="{C1211D86-B259-8C76-8293-425234991CF9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2832274" y="15803930"/>
            <a:ext cx="914400" cy="914400"/>
          </a:xfrm>
          <a:prstGeom prst="rect">
            <a:avLst/>
          </a:prstGeom>
        </p:spPr>
      </p:pic>
      <p:pic>
        <p:nvPicPr>
          <p:cNvPr id="30" name="Graphic 29" descr="Badge 5 with solid fill">
            <a:extLst>
              <a:ext uri="{FF2B5EF4-FFF2-40B4-BE49-F238E27FC236}">
                <a16:creationId xmlns:a16="http://schemas.microsoft.com/office/drawing/2014/main" id="{DFBE16E5-1A4D-8B9E-2F78-142F55C4B590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1686528" y="20593225"/>
            <a:ext cx="914400" cy="914400"/>
          </a:xfrm>
          <a:prstGeom prst="rect">
            <a:avLst/>
          </a:prstGeom>
        </p:spPr>
      </p:pic>
      <p:pic>
        <p:nvPicPr>
          <p:cNvPr id="39" name="Graphic 38" descr="Badge 6 with solid fill">
            <a:extLst>
              <a:ext uri="{FF2B5EF4-FFF2-40B4-BE49-F238E27FC236}">
                <a16:creationId xmlns:a16="http://schemas.microsoft.com/office/drawing/2014/main" id="{6011897A-1549-DF72-9C09-8F4B39543D8B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12682806" y="27321553"/>
            <a:ext cx="914400" cy="9144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conceptualizingcobalt|08-2022"/>
</p:tagLst>
</file>

<file path=ppt/theme/theme1.xml><?xml version="1.0" encoding="utf-8"?>
<a:theme xmlns:a="http://schemas.openxmlformats.org/drawingml/2006/main" name="Default Design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Default Design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7021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93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855</Words>
  <Application>Microsoft Office PowerPoint</Application>
  <PresentationFormat>Custom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Amaranth</vt:lpstr>
      <vt:lpstr>Titillium Web</vt:lpstr>
      <vt:lpstr>Symbol</vt:lpstr>
      <vt:lpstr>Arial</vt:lpstr>
      <vt:lpstr>Default Design</vt:lpstr>
      <vt:lpstr>PowerPoint Presentation</vt:lpstr>
    </vt:vector>
  </TitlesOfParts>
  <Company>Graphicsland/MAKESIGNS.COM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to create a scientific poster</dc:title>
  <dc:subject>Example Of A Sample Research Poster</dc:subject>
  <dc:creator>Graphicsland/MakeSigns.com</dc:creator>
  <cp:keywords>scientific, research, template, custom, poster, presentation, symposium, printing, PowerPoint, create, design, example, sample, download</cp:keywords>
  <dc:description>Download our scientific poster templates at no cost to you and get one step closer to making a great research poster.</dc:description>
  <cp:lastModifiedBy>Tom Steinman</cp:lastModifiedBy>
  <cp:revision>33</cp:revision>
  <dcterms:modified xsi:type="dcterms:W3CDTF">2025-11-10T22:50:03Z</dcterms:modified>
  <cp:category>scientific poster PowerPoint</cp:category>
</cp:coreProperties>
</file>