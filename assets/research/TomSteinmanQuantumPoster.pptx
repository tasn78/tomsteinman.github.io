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43891200" cy="32918400"/>
  <p:notesSz cx="6858000" cy="9144000"/>
  <p:embeddedFontLst>
    <p:embeddedFont>
      <p:font typeface="Amaranth" panose="020B0604020202020204" charset="0"/>
      <p:regular r:id="rId4"/>
      <p:bold r:id="rId5"/>
      <p:italic r:id="rId6"/>
      <p:boldItalic r:id="rId7"/>
    </p:embeddedFont>
    <p:embeddedFont>
      <p:font typeface="Arial Nova" panose="020B0504020202020204" pitchFamily="34" charset="0"/>
      <p:regular r:id="rId8"/>
      <p:bold r:id="rId9"/>
      <p:italic r:id="rId10"/>
      <p:boldItalic r:id="rId11"/>
    </p:embeddedFont>
    <p:embeddedFont>
      <p:font typeface="Titillium Web" panose="00000500000000000000" pitchFamily="2" charset="0"/>
      <p:regular r:id="rId12"/>
      <p:bold r:id="rId13"/>
      <p:italic r:id="rId14"/>
      <p:boldItalic r:id="rId15"/>
    </p:embeddedFont>
  </p:embeddedFontLst>
  <p:custDataLst>
    <p:tags r:id="rId16"/>
  </p:custDataLst>
  <p:defaultTextStyle>
    <a:defPPr>
      <a:defRPr lang="en-US"/>
    </a:defPPr>
    <a:lvl1pPr algn="l" rtl="0" fontAlgn="base">
      <a:spcBef>
        <a:spcPct val="0"/>
      </a:spcBef>
      <a:spcAft>
        <a:spcPct val="0"/>
      </a:spcAft>
      <a:defRPr sz="3800" kern="1200">
        <a:solidFill>
          <a:schemeClr val="tx1"/>
        </a:solidFill>
        <a:latin typeface="Arial"/>
        <a:ea typeface="+mn-ea"/>
        <a:cs typeface="+mn-cs"/>
      </a:defRPr>
    </a:lvl1pPr>
    <a:lvl2pPr marL="457200" algn="l" rtl="0" fontAlgn="base">
      <a:spcBef>
        <a:spcPct val="0"/>
      </a:spcBef>
      <a:spcAft>
        <a:spcPct val="0"/>
      </a:spcAft>
      <a:defRPr sz="3800" kern="1200">
        <a:solidFill>
          <a:schemeClr val="tx1"/>
        </a:solidFill>
        <a:latin typeface="Arial"/>
        <a:ea typeface="+mn-ea"/>
        <a:cs typeface="+mn-cs"/>
      </a:defRPr>
    </a:lvl2pPr>
    <a:lvl3pPr marL="914400" algn="l" rtl="0" fontAlgn="base">
      <a:spcBef>
        <a:spcPct val="0"/>
      </a:spcBef>
      <a:spcAft>
        <a:spcPct val="0"/>
      </a:spcAft>
      <a:defRPr sz="3800" kern="1200">
        <a:solidFill>
          <a:schemeClr val="tx1"/>
        </a:solidFill>
        <a:latin typeface="Arial"/>
        <a:ea typeface="+mn-ea"/>
        <a:cs typeface="+mn-cs"/>
      </a:defRPr>
    </a:lvl3pPr>
    <a:lvl4pPr marL="1371600" algn="l" rtl="0" fontAlgn="base">
      <a:spcBef>
        <a:spcPct val="0"/>
      </a:spcBef>
      <a:spcAft>
        <a:spcPct val="0"/>
      </a:spcAft>
      <a:defRPr sz="3800" kern="1200">
        <a:solidFill>
          <a:schemeClr val="tx1"/>
        </a:solidFill>
        <a:latin typeface="Arial"/>
        <a:ea typeface="+mn-ea"/>
        <a:cs typeface="+mn-cs"/>
      </a:defRPr>
    </a:lvl4pPr>
    <a:lvl5pPr marL="1828800" algn="l" rtl="0" fontAlgn="base">
      <a:spcBef>
        <a:spcPct val="0"/>
      </a:spcBef>
      <a:spcAft>
        <a:spcPct val="0"/>
      </a:spcAft>
      <a:defRPr sz="3800" kern="1200">
        <a:solidFill>
          <a:schemeClr val="tx1"/>
        </a:solidFill>
        <a:latin typeface="Arial"/>
        <a:ea typeface="+mn-ea"/>
        <a:cs typeface="+mn-cs"/>
      </a:defRPr>
    </a:lvl5pPr>
    <a:lvl6pPr marL="2286000" algn="l" defTabSz="914400" rtl="0" eaLnBrk="1" latinLnBrk="0" hangingPunct="1">
      <a:defRPr sz="3800" kern="1200">
        <a:solidFill>
          <a:schemeClr val="tx1"/>
        </a:solidFill>
        <a:latin typeface="Arial"/>
        <a:ea typeface="+mn-ea"/>
        <a:cs typeface="+mn-cs"/>
      </a:defRPr>
    </a:lvl6pPr>
    <a:lvl7pPr marL="2743200" algn="l" defTabSz="914400" rtl="0" eaLnBrk="1" latinLnBrk="0" hangingPunct="1">
      <a:defRPr sz="3800" kern="1200">
        <a:solidFill>
          <a:schemeClr val="tx1"/>
        </a:solidFill>
        <a:latin typeface="Arial"/>
        <a:ea typeface="+mn-ea"/>
        <a:cs typeface="+mn-cs"/>
      </a:defRPr>
    </a:lvl7pPr>
    <a:lvl8pPr marL="3200400" algn="l" defTabSz="914400" rtl="0" eaLnBrk="1" latinLnBrk="0" hangingPunct="1">
      <a:defRPr sz="3800" kern="1200">
        <a:solidFill>
          <a:schemeClr val="tx1"/>
        </a:solidFill>
        <a:latin typeface="Arial"/>
        <a:ea typeface="+mn-ea"/>
        <a:cs typeface="+mn-cs"/>
      </a:defRPr>
    </a:lvl8pPr>
    <a:lvl9pPr marL="3657600" algn="l" defTabSz="914400" rtl="0" eaLnBrk="1" latinLnBrk="0" hangingPunct="1">
      <a:defRPr sz="38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37AD1-F48B-4E59-86DD-1383ED0CC917}" v="389" dt="2025-11-08T20:59:46.2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4" autoAdjust="0"/>
  </p:normalViewPr>
  <p:slideViewPr>
    <p:cSldViewPr>
      <p:cViewPr>
        <p:scale>
          <a:sx n="75" d="100"/>
          <a:sy n="75" d="100"/>
        </p:scale>
        <p:origin x="-12186" y="-9924"/>
      </p:cViewPr>
      <p:guideLst>
        <p:guide orient="horz" pos="10368"/>
        <p:guide pos="13824"/>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viewProps" Target="viewProps.xml"/><Relationship Id="rId3" Type="http://schemas.openxmlformats.org/officeDocument/2006/relationships/notesMaster" Target="notesMasters/notesMaster1.xml"/><Relationship Id="rId21" Type="http://schemas.microsoft.com/office/2015/10/relationships/revisionInfo" Target="revisionInfo.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defRPr sz="1200"/>
            </a:lvl1pPr>
          </a:lstStyle>
          <a:p>
            <a:pPr>
              <a:defRPr/>
            </a:pPr>
            <a:endParaRPr 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lgn="r">
              <a:defRPr sz="1200"/>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defRPr sz="1200"/>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lgn="r">
              <a:defRPr sz="1200"/>
            </a:lvl1pPr>
          </a:lstStyle>
          <a:p>
            <a:pPr>
              <a:defRPr/>
            </a:pPr>
            <a:fld id="{B95F3361-2405-48EE-818C-467D1C2230F9}" type="slidenum">
              <a:rPr lang="en-US"/>
              <a:pPr>
                <a:defRPr/>
              </a:pPr>
              <a:t>‹#›</a:t>
            </a:fld>
            <a:endParaRPr lang="en-US"/>
          </a:p>
        </p:txBody>
      </p:sp>
    </p:spTree>
    <p:extLst>
      <p:ext uri="{BB962C8B-B14F-4D97-AF65-F5344CB8AC3E}">
        <p14:creationId xmlns:p14="http://schemas.microsoft.com/office/powerpoint/2010/main" val="38427364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vl1pPr eaLnBrk="0" hangingPunct="0">
              <a:defRPr sz="3800">
                <a:solidFill>
                  <a:schemeClr val="tx1"/>
                </a:solidFill>
                <a:latin typeface="Arial"/>
              </a:defRPr>
            </a:lvl1pPr>
            <a:lvl2pPr marL="742950" indent="-285750" eaLnBrk="0" hangingPunct="0">
              <a:defRPr sz="3800">
                <a:solidFill>
                  <a:schemeClr val="tx1"/>
                </a:solidFill>
                <a:latin typeface="Arial"/>
              </a:defRPr>
            </a:lvl2pPr>
            <a:lvl3pPr marL="1143000" indent="-228600" eaLnBrk="0" hangingPunct="0">
              <a:defRPr sz="3800">
                <a:solidFill>
                  <a:schemeClr val="tx1"/>
                </a:solidFill>
                <a:latin typeface="Arial"/>
              </a:defRPr>
            </a:lvl3pPr>
            <a:lvl4pPr marL="1600200" indent="-228600" eaLnBrk="0" hangingPunct="0">
              <a:defRPr sz="3800">
                <a:solidFill>
                  <a:schemeClr val="tx1"/>
                </a:solidFill>
                <a:latin typeface="Arial"/>
              </a:defRPr>
            </a:lvl4pPr>
            <a:lvl5pPr marL="2057400" indent="-228600" eaLnBrk="0" hangingPunct="0">
              <a:defRPr sz="3800">
                <a:solidFill>
                  <a:schemeClr val="tx1"/>
                </a:solidFill>
                <a:latin typeface="Arial"/>
              </a:defRPr>
            </a:lvl5pPr>
            <a:lvl6pPr marL="2514600" indent="-228600" eaLnBrk="0" fontAlgn="base" hangingPunct="0">
              <a:spcBef>
                <a:spcPct val="0"/>
              </a:spcBef>
              <a:spcAft>
                <a:spcPct val="0"/>
              </a:spcAft>
              <a:defRPr sz="3800">
                <a:solidFill>
                  <a:schemeClr val="tx1"/>
                </a:solidFill>
                <a:latin typeface="Arial"/>
              </a:defRPr>
            </a:lvl6pPr>
            <a:lvl7pPr marL="2971800" indent="-228600" eaLnBrk="0" fontAlgn="base" hangingPunct="0">
              <a:spcBef>
                <a:spcPct val="0"/>
              </a:spcBef>
              <a:spcAft>
                <a:spcPct val="0"/>
              </a:spcAft>
              <a:defRPr sz="3800">
                <a:solidFill>
                  <a:schemeClr val="tx1"/>
                </a:solidFill>
                <a:latin typeface="Arial"/>
              </a:defRPr>
            </a:lvl7pPr>
            <a:lvl8pPr marL="3429000" indent="-228600" eaLnBrk="0" fontAlgn="base" hangingPunct="0">
              <a:spcBef>
                <a:spcPct val="0"/>
              </a:spcBef>
              <a:spcAft>
                <a:spcPct val="0"/>
              </a:spcAft>
              <a:defRPr sz="3800">
                <a:solidFill>
                  <a:schemeClr val="tx1"/>
                </a:solidFill>
                <a:latin typeface="Arial"/>
              </a:defRPr>
            </a:lvl8pPr>
            <a:lvl9pPr marL="3886200" indent="-228600" eaLnBrk="0" fontAlgn="base" hangingPunct="0">
              <a:spcBef>
                <a:spcPct val="0"/>
              </a:spcBef>
              <a:spcAft>
                <a:spcPct val="0"/>
              </a:spcAft>
              <a:defRPr sz="3800">
                <a:solidFill>
                  <a:schemeClr val="tx1"/>
                </a:solidFill>
                <a:latin typeface="Arial"/>
              </a:defRPr>
            </a:lvl9pPr>
          </a:lstStyle>
          <a:p>
            <a:pPr eaLnBrk="1" hangingPunct="1"/>
            <a:fld id="{78EE7683-CAC2-4B7F-B858-28F016B0AEB9}" type="slidenum">
              <a:rPr lang="en-US" sz="1200" smtClean="0"/>
              <a:pPr eaLnBrk="1" hangingPunct="1"/>
              <a:t>1</a:t>
            </a:fld>
            <a:endParaRPr lang="en-US" sz="1200"/>
          </a:p>
        </p:txBody>
      </p:sp>
      <p:sp>
        <p:nvSpPr>
          <p:cNvPr id="4099" name="Rectangle 2"/>
          <p:cNvSpPr>
            <a:spLocks noGrp="1" noRot="1" noChangeAspect="1" noChangeArrowheads="1" noTextEdit="1"/>
          </p:cNvSpPr>
          <p:nvPr>
            <p:ph type="sldImg"/>
          </p:nvPr>
        </p:nvSpPr>
        <p:spPr/>
      </p:sp>
      <p:sp>
        <p:nvSpPr>
          <p:cNvPr id="41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CB043562-595C-41E0-A431-AB378AFFB518}" type="slidenum">
              <a:rPr lang="en-US"/>
              <a:pPr>
                <a:defRPr/>
              </a:pPr>
              <a:t>‹#›</a:t>
            </a:fld>
            <a:endParaRPr lang="en-US"/>
          </a:p>
        </p:txBody>
      </p:sp>
    </p:spTree>
    <p:extLst>
      <p:ext uri="{BB962C8B-B14F-4D97-AF65-F5344CB8AC3E}">
        <p14:creationId xmlns:p14="http://schemas.microsoft.com/office/powerpoint/2010/main" val="41195525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E844B6AF-379B-4B34-AAC6-97D3032A49C6}" type="slidenum">
              <a:rPr lang="en-US"/>
              <a:pPr>
                <a:defRPr/>
              </a:pPr>
              <a:t>‹#›</a:t>
            </a:fld>
            <a:endParaRPr lang="en-US"/>
          </a:p>
        </p:txBody>
      </p:sp>
    </p:spTree>
    <p:extLst>
      <p:ext uri="{BB962C8B-B14F-4D97-AF65-F5344CB8AC3E}">
        <p14:creationId xmlns:p14="http://schemas.microsoft.com/office/powerpoint/2010/main" val="181661525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44BFBC0-7F94-4CE5-A00D-18BE726F285A}" type="slidenum">
              <a:rPr lang="en-US"/>
              <a:pPr>
                <a:defRPr/>
              </a:pPr>
              <a:t>‹#›</a:t>
            </a:fld>
            <a:endParaRPr lang="en-US"/>
          </a:p>
        </p:txBody>
      </p:sp>
    </p:spTree>
    <p:extLst>
      <p:ext uri="{BB962C8B-B14F-4D97-AF65-F5344CB8AC3E}">
        <p14:creationId xmlns:p14="http://schemas.microsoft.com/office/powerpoint/2010/main" val="41651591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3925" y="7680325"/>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CDF645C6-96DC-4F21-9A48-95AFF68A54A2}" type="slidenum">
              <a:rPr lang="en-US"/>
              <a:pPr>
                <a:defRPr/>
              </a:pPr>
              <a:t>‹#›</a:t>
            </a:fld>
            <a:endParaRPr lang="en-US"/>
          </a:p>
        </p:txBody>
      </p:sp>
    </p:spTree>
    <p:extLst>
      <p:ext uri="{BB962C8B-B14F-4D97-AF65-F5344CB8AC3E}">
        <p14:creationId xmlns:p14="http://schemas.microsoft.com/office/powerpoint/2010/main" val="388354793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8"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8"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C2B12CE4-144C-4A27-8B3F-7EB79E6B2146}" type="slidenum">
              <a:rPr lang="en-US"/>
              <a:pPr>
                <a:defRPr/>
              </a:pPr>
              <a:t>‹#›</a:t>
            </a:fld>
            <a:endParaRPr lang="en-US"/>
          </a:p>
        </p:txBody>
      </p:sp>
    </p:spTree>
    <p:extLst>
      <p:ext uri="{BB962C8B-B14F-4D97-AF65-F5344CB8AC3E}">
        <p14:creationId xmlns:p14="http://schemas.microsoft.com/office/powerpoint/2010/main" val="18185236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F1FAA83-0A80-48DF-A2A9-D01CE04D8E50}" type="slidenum">
              <a:rPr lang="en-US"/>
              <a:pPr>
                <a:defRPr/>
              </a:pPr>
              <a:t>‹#›</a:t>
            </a:fld>
            <a:endParaRPr lang="en-US"/>
          </a:p>
        </p:txBody>
      </p:sp>
    </p:spTree>
    <p:extLst>
      <p:ext uri="{BB962C8B-B14F-4D97-AF65-F5344CB8AC3E}">
        <p14:creationId xmlns:p14="http://schemas.microsoft.com/office/powerpoint/2010/main" val="65837894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8203DA95-0AAE-48A7-9DEF-F9FD3932C4A9}" type="slidenum">
              <a:rPr lang="en-US"/>
              <a:pPr>
                <a:defRPr/>
              </a:pPr>
              <a:t>‹#›</a:t>
            </a:fld>
            <a:endParaRPr lang="en-US"/>
          </a:p>
        </p:txBody>
      </p:sp>
    </p:spTree>
    <p:extLst>
      <p:ext uri="{BB962C8B-B14F-4D97-AF65-F5344CB8AC3E}">
        <p14:creationId xmlns:p14="http://schemas.microsoft.com/office/powerpoint/2010/main" val="74586203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77038B2-2801-40BE-BC48-C628781FF49E}" type="slidenum">
              <a:rPr lang="en-US"/>
              <a:pPr>
                <a:defRPr/>
              </a:pPr>
              <a:t>‹#›</a:t>
            </a:fld>
            <a:endParaRPr lang="en-US"/>
          </a:p>
        </p:txBody>
      </p:sp>
    </p:spTree>
    <p:extLst>
      <p:ext uri="{BB962C8B-B14F-4D97-AF65-F5344CB8AC3E}">
        <p14:creationId xmlns:p14="http://schemas.microsoft.com/office/powerpoint/2010/main" val="396973015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2"/>
            <a:ext cx="26335038" cy="2720975"/>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8" cy="19750088"/>
          </a:xfr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8" cy="3862387"/>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700A3960-9A0E-4A4A-BE72-10B88343DD28}" type="slidenum">
              <a:rPr lang="en-US"/>
              <a:pPr>
                <a:defRPr/>
              </a:pPr>
              <a:t>‹#›</a:t>
            </a:fld>
            <a:endParaRPr lang="en-US"/>
          </a:p>
        </p:txBody>
      </p:sp>
    </p:spTree>
    <p:extLst>
      <p:ext uri="{BB962C8B-B14F-4D97-AF65-F5344CB8AC3E}">
        <p14:creationId xmlns:p14="http://schemas.microsoft.com/office/powerpoint/2010/main" val="258630283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1865ABB-973D-4162-96BF-63AD8AB82A90}" type="slidenum">
              <a:rPr lang="en-US"/>
              <a:pPr>
                <a:defRPr/>
              </a:pPr>
              <a:t>‹#›</a:t>
            </a:fld>
            <a:endParaRPr lang="en-US"/>
          </a:p>
        </p:txBody>
      </p:sp>
    </p:spTree>
    <p:extLst>
      <p:ext uri="{BB962C8B-B14F-4D97-AF65-F5344CB8AC3E}">
        <p14:creationId xmlns:p14="http://schemas.microsoft.com/office/powerpoint/2010/main" val="428143995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922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3925" y="1317625"/>
            <a:ext cx="29475112" cy="2808922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38E2FC5-3957-4F45-8892-8AA180862785}" type="slidenum">
              <a:rPr lang="en-US"/>
              <a:pPr>
                <a:defRPr/>
              </a:pPr>
              <a:t>‹#›</a:t>
            </a:fld>
            <a:endParaRPr lang="en-US"/>
          </a:p>
        </p:txBody>
      </p:sp>
    </p:spTree>
    <p:extLst>
      <p:ext uri="{BB962C8B-B14F-4D97-AF65-F5344CB8AC3E}">
        <p14:creationId xmlns:p14="http://schemas.microsoft.com/office/powerpoint/2010/main" val="175926670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defPPr>
              <a:defRPr kern="1200"/>
            </a:defPPr>
          </a:lstStyle>
          <a:p>
            <a:r>
              <a:rPr lang="en-US"/>
              <a:t>Click to edit Master title style</a:t>
            </a:r>
          </a:p>
        </p:txBody>
      </p:sp>
      <p:sp>
        <p:nvSpPr>
          <p:cNvPr id="3" name="Text Placeholder 2"/>
          <p:cNvSpPr>
            <a:spLocks noGrp="1"/>
          </p:cNvSpPr>
          <p:nvPr>
            <p:ph type="body" sz="half" idx="1"/>
          </p:nvPr>
        </p:nvSpPr>
        <p:spPr>
          <a:xfrm>
            <a:off x="2193925" y="7680325"/>
            <a:ext cx="19675475" cy="2172652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22021800" y="7680325"/>
            <a:ext cx="19675475" cy="21726525"/>
          </a:xfrm>
        </p:spPr>
        <p:txBody>
          <a:bodyPr/>
          <a:lstStyle>
            <a:defPPr>
              <a:defRPr kern="1200"/>
            </a:defPPr>
          </a:lstStyle>
          <a:p>
            <a:pPr lvl="0"/>
            <a:endParaRPr lang="en-US" noProof="0"/>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FA04B66-8F62-42BD-B0EA-2923AA341B7B}" type="slidenum">
              <a:rPr lang="en-US"/>
              <a:pPr>
                <a:defRPr/>
              </a:pPr>
              <a:t>‹#›</a:t>
            </a:fld>
            <a:endParaRPr lang="en-US"/>
          </a:p>
        </p:txBody>
      </p:sp>
    </p:spTree>
    <p:extLst>
      <p:ext uri="{BB962C8B-B14F-4D97-AF65-F5344CB8AC3E}">
        <p14:creationId xmlns:p14="http://schemas.microsoft.com/office/powerpoint/2010/main" val="17846588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193925" y="7680325"/>
            <a:ext cx="39503350" cy="2172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3925" y="29978350"/>
            <a:ext cx="102425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defRPr sz="7100" smtClean="0"/>
            </a:lvl1pPr>
          </a:lstStyle>
          <a:p>
            <a:pPr>
              <a:defRPr/>
            </a:pPr>
            <a:endParaRPr lang="en-US"/>
          </a:p>
        </p:txBody>
      </p:sp>
      <p:sp>
        <p:nvSpPr>
          <p:cNvPr id="1029" name="Rectangle 5"/>
          <p:cNvSpPr>
            <a:spLocks noGrp="1" noChangeArrowheads="1"/>
          </p:cNvSpPr>
          <p:nvPr>
            <p:ph type="ftr" sz="quarter" idx="3"/>
          </p:nvPr>
        </p:nvSpPr>
        <p:spPr bwMode="auto">
          <a:xfrm>
            <a:off x="14995525" y="29978350"/>
            <a:ext cx="139001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ctr">
              <a:defRPr sz="7100" smtClean="0"/>
            </a:lvl1pPr>
          </a:lstStyle>
          <a:p>
            <a:pPr>
              <a:defRPr/>
            </a:pPr>
            <a:endParaRPr lang="en-US"/>
          </a:p>
        </p:txBody>
      </p:sp>
      <p:sp>
        <p:nvSpPr>
          <p:cNvPr id="1030" name="Rectangle 6"/>
          <p:cNvSpPr>
            <a:spLocks noGrp="1" noChangeArrowheads="1"/>
          </p:cNvSpPr>
          <p:nvPr>
            <p:ph type="sldNum" sz="quarter" idx="4"/>
          </p:nvPr>
        </p:nvSpPr>
        <p:spPr bwMode="auto">
          <a:xfrm>
            <a:off x="31454725" y="29978350"/>
            <a:ext cx="102425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r">
              <a:defRPr sz="7100" smtClean="0"/>
            </a:lvl1pPr>
          </a:lstStyle>
          <a:p>
            <a:pPr>
              <a:defRPr/>
            </a:pPr>
            <a:fld id="{2839560C-692A-406E-AC47-35009443A5A0}" type="slidenum">
              <a:rPr lang="en-US"/>
              <a:pPr>
                <a:defRPr/>
              </a:pPr>
              <a:t>‹#›</a:t>
            </a:fld>
            <a:endParaRPr lang="en-US"/>
          </a:p>
        </p:txBody>
      </p:sp>
      <p:pic>
        <p:nvPicPr>
          <p:cNvPr id="1031" name="New picture"/>
          <p:cNvPicPr/>
          <p:nvPr/>
        </p:nvPicPr>
        <p:blipFill>
          <a:blip r:embed="rId14"/>
          <a:stretch>
            <a:fillRect/>
          </a:stretch>
        </p:blipFill>
        <p:spPr>
          <a:xfrm rot="16200000">
            <a:off x="-11074400" y="16459200"/>
            <a:ext cx="14274800" cy="3937000"/>
          </a:xfrm>
          <a:prstGeom prst="rect">
            <a:avLst/>
          </a:prstGeom>
        </p:spPr>
      </p:pic>
      <p:pic>
        <p:nvPicPr>
          <p:cNvPr id="1032" name="New picture"/>
          <p:cNvPicPr/>
          <p:nvPr/>
        </p:nvPicPr>
        <p:blipFill>
          <a:blip r:embed="rId14"/>
          <a:stretch>
            <a:fillRect/>
          </a:stretch>
        </p:blipFill>
        <p:spPr>
          <a:xfrm rot="5400000">
            <a:off x="40690800" y="16459200"/>
            <a:ext cx="14274800" cy="3937000"/>
          </a:xfrm>
          <a:prstGeom prst="rect">
            <a:avLst/>
          </a:prstGeom>
        </p:spPr>
      </p:pic>
      <p:pic>
        <p:nvPicPr>
          <p:cNvPr id="1033" name="New picture"/>
          <p:cNvPicPr/>
          <p:nvPr/>
        </p:nvPicPr>
        <p:blipFill>
          <a:blip r:embed="rId15"/>
          <a:stretch>
            <a:fillRect/>
          </a:stretch>
        </p:blipFill>
        <p:spPr>
          <a:xfrm>
            <a:off x="6946900" y="33426400"/>
            <a:ext cx="29997400" cy="1447800"/>
          </a:xfrm>
          <a:prstGeom prst="rect">
            <a:avLst/>
          </a:prstGeom>
        </p:spPr>
      </p:pic>
      <p:sp>
        <p:nvSpPr>
          <p:cNvPr id="1034"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philosophicalseafoam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4703763" rtl="0" eaLnBrk="0" fontAlgn="base" hangingPunct="0">
        <a:spcBef>
          <a:spcPct val="0"/>
        </a:spcBef>
        <a:spcAft>
          <a:spcPct val="0"/>
        </a:spcAft>
        <a:defRPr sz="22700">
          <a:solidFill>
            <a:schemeClr val="tx2"/>
          </a:solidFill>
          <a:latin typeface="+mj-lt"/>
          <a:ea typeface="+mj-ea"/>
          <a:cs typeface="+mj-cs"/>
        </a:defRPr>
      </a:lvl1pPr>
      <a:lvl2pPr algn="ctr" defTabSz="4703763" rtl="0" eaLnBrk="0" fontAlgn="base" hangingPunct="0">
        <a:spcBef>
          <a:spcPct val="0"/>
        </a:spcBef>
        <a:spcAft>
          <a:spcPct val="0"/>
        </a:spcAft>
        <a:defRPr sz="22700">
          <a:solidFill>
            <a:schemeClr val="tx2"/>
          </a:solidFill>
          <a:latin typeface="Arial"/>
        </a:defRPr>
      </a:lvl2pPr>
      <a:lvl3pPr algn="ctr" defTabSz="4703763" rtl="0" eaLnBrk="0" fontAlgn="base" hangingPunct="0">
        <a:spcBef>
          <a:spcPct val="0"/>
        </a:spcBef>
        <a:spcAft>
          <a:spcPct val="0"/>
        </a:spcAft>
        <a:defRPr sz="22700">
          <a:solidFill>
            <a:schemeClr val="tx2"/>
          </a:solidFill>
          <a:latin typeface="Arial"/>
        </a:defRPr>
      </a:lvl3pPr>
      <a:lvl4pPr algn="ctr" defTabSz="4703763" rtl="0" eaLnBrk="0" fontAlgn="base" hangingPunct="0">
        <a:spcBef>
          <a:spcPct val="0"/>
        </a:spcBef>
        <a:spcAft>
          <a:spcPct val="0"/>
        </a:spcAft>
        <a:defRPr sz="22700">
          <a:solidFill>
            <a:schemeClr val="tx2"/>
          </a:solidFill>
          <a:latin typeface="Arial"/>
        </a:defRPr>
      </a:lvl4pPr>
      <a:lvl5pPr algn="ctr" defTabSz="4703763" rtl="0" eaLnBrk="0" fontAlgn="base" hangingPunct="0">
        <a:spcBef>
          <a:spcPct val="0"/>
        </a:spcBef>
        <a:spcAft>
          <a:spcPct val="0"/>
        </a:spcAft>
        <a:defRPr sz="22700">
          <a:solidFill>
            <a:schemeClr val="tx2"/>
          </a:solidFill>
          <a:latin typeface="Arial"/>
        </a:defRPr>
      </a:lvl5pPr>
      <a:lvl6pPr marL="457200" algn="ctr" defTabSz="4703763" rtl="0" fontAlgn="base">
        <a:spcBef>
          <a:spcPct val="0"/>
        </a:spcBef>
        <a:spcAft>
          <a:spcPct val="0"/>
        </a:spcAft>
        <a:defRPr sz="22700">
          <a:solidFill>
            <a:schemeClr val="tx2"/>
          </a:solidFill>
          <a:latin typeface="Arial"/>
        </a:defRPr>
      </a:lvl6pPr>
      <a:lvl7pPr marL="914400" algn="ctr" defTabSz="4703763" rtl="0" fontAlgn="base">
        <a:spcBef>
          <a:spcPct val="0"/>
        </a:spcBef>
        <a:spcAft>
          <a:spcPct val="0"/>
        </a:spcAft>
        <a:defRPr sz="22700">
          <a:solidFill>
            <a:schemeClr val="tx2"/>
          </a:solidFill>
          <a:latin typeface="Arial"/>
        </a:defRPr>
      </a:lvl7pPr>
      <a:lvl8pPr marL="1371600" algn="ctr" defTabSz="4703763" rtl="0" fontAlgn="base">
        <a:spcBef>
          <a:spcPct val="0"/>
        </a:spcBef>
        <a:spcAft>
          <a:spcPct val="0"/>
        </a:spcAft>
        <a:defRPr sz="22700">
          <a:solidFill>
            <a:schemeClr val="tx2"/>
          </a:solidFill>
          <a:latin typeface="Arial"/>
        </a:defRPr>
      </a:lvl8pPr>
      <a:lvl9pPr marL="1828800" algn="ctr" defTabSz="4703763" rtl="0" fontAlgn="base">
        <a:spcBef>
          <a:spcPct val="0"/>
        </a:spcBef>
        <a:spcAft>
          <a:spcPct val="0"/>
        </a:spcAft>
        <a:defRPr sz="22700">
          <a:solidFill>
            <a:schemeClr val="tx2"/>
          </a:solidFill>
          <a:latin typeface="Arial"/>
        </a:defRPr>
      </a:lvl9pPr>
    </p:titleStyle>
    <p:bodyStyle>
      <a:defPPr>
        <a:defRPr kern="1200"/>
      </a:defPPr>
      <a:lvl1pPr marL="1762125" indent="-1762125" algn="l" defTabSz="4703763" rtl="0" eaLnBrk="0" fontAlgn="base" hangingPunct="0">
        <a:spcBef>
          <a:spcPct val="20000"/>
        </a:spcBef>
        <a:spcAft>
          <a:spcPct val="0"/>
        </a:spcAft>
        <a:buChar char="•"/>
        <a:defRPr sz="16500">
          <a:solidFill>
            <a:schemeClr val="tx1"/>
          </a:solidFill>
          <a:latin typeface="+mn-lt"/>
          <a:ea typeface="+mn-ea"/>
          <a:cs typeface="+mn-cs"/>
        </a:defRPr>
      </a:lvl1pPr>
      <a:lvl2pPr marL="3822700" indent="-1471613" algn="l" defTabSz="4703763" rtl="0" eaLnBrk="0" fontAlgn="base" hangingPunct="0">
        <a:spcBef>
          <a:spcPct val="20000"/>
        </a:spcBef>
        <a:spcAft>
          <a:spcPct val="0"/>
        </a:spcAft>
        <a:buChar char="–"/>
        <a:defRPr sz="14400">
          <a:solidFill>
            <a:schemeClr val="tx1"/>
          </a:solidFill>
          <a:latin typeface="+mn-lt"/>
        </a:defRPr>
      </a:lvl2pPr>
      <a:lvl3pPr marL="5875338" indent="-1171575" algn="l" defTabSz="4703763" rtl="0" eaLnBrk="0" fontAlgn="base" hangingPunct="0">
        <a:spcBef>
          <a:spcPct val="20000"/>
        </a:spcBef>
        <a:spcAft>
          <a:spcPct val="0"/>
        </a:spcAft>
        <a:buChar char="•"/>
        <a:defRPr sz="12400">
          <a:solidFill>
            <a:schemeClr val="tx1"/>
          </a:solidFill>
          <a:latin typeface="+mn-lt"/>
        </a:defRPr>
      </a:lvl3pPr>
      <a:lvl4pPr marL="8228013" indent="-1173163" algn="l" defTabSz="4703763" rtl="0" eaLnBrk="0" fontAlgn="base" hangingPunct="0">
        <a:spcBef>
          <a:spcPct val="20000"/>
        </a:spcBef>
        <a:spcAft>
          <a:spcPct val="0"/>
        </a:spcAft>
        <a:buChar char="–"/>
        <a:defRPr sz="10300">
          <a:solidFill>
            <a:schemeClr val="tx1"/>
          </a:solidFill>
          <a:latin typeface="+mn-lt"/>
        </a:defRPr>
      </a:lvl4pPr>
      <a:lvl5pPr marL="10582275" indent="-1176338" algn="l" defTabSz="4703763" rtl="0" eaLnBrk="0" fontAlgn="base" hangingPunct="0">
        <a:spcBef>
          <a:spcPct val="20000"/>
        </a:spcBef>
        <a:spcAft>
          <a:spcPct val="0"/>
        </a:spcAft>
        <a:buChar char="»"/>
        <a:defRPr sz="10300">
          <a:solidFill>
            <a:schemeClr val="tx1"/>
          </a:solidFill>
          <a:latin typeface="+mn-lt"/>
        </a:defRPr>
      </a:lvl5pPr>
      <a:lvl6pPr marL="11039475" indent="-1176338" algn="l" defTabSz="4703763" rtl="0" fontAlgn="base">
        <a:spcBef>
          <a:spcPct val="20000"/>
        </a:spcBef>
        <a:spcAft>
          <a:spcPct val="0"/>
        </a:spcAft>
        <a:buChar char="»"/>
        <a:defRPr sz="10300">
          <a:solidFill>
            <a:schemeClr val="tx1"/>
          </a:solidFill>
          <a:latin typeface="+mn-lt"/>
        </a:defRPr>
      </a:lvl6pPr>
      <a:lvl7pPr marL="11496675" indent="-1176338" algn="l" defTabSz="4703763" rtl="0" fontAlgn="base">
        <a:spcBef>
          <a:spcPct val="20000"/>
        </a:spcBef>
        <a:spcAft>
          <a:spcPct val="0"/>
        </a:spcAft>
        <a:buChar char="»"/>
        <a:defRPr sz="10300">
          <a:solidFill>
            <a:schemeClr val="tx1"/>
          </a:solidFill>
          <a:latin typeface="+mn-lt"/>
        </a:defRPr>
      </a:lvl7pPr>
      <a:lvl8pPr marL="11953875" indent="-1176338" algn="l" defTabSz="4703763" rtl="0" fontAlgn="base">
        <a:spcBef>
          <a:spcPct val="20000"/>
        </a:spcBef>
        <a:spcAft>
          <a:spcPct val="0"/>
        </a:spcAft>
        <a:buChar char="»"/>
        <a:defRPr sz="10300">
          <a:solidFill>
            <a:schemeClr val="tx1"/>
          </a:solidFill>
          <a:latin typeface="+mn-lt"/>
        </a:defRPr>
      </a:lvl8pPr>
      <a:lvl9pPr marL="12411075" indent="-1176338" algn="l" defTabSz="4703763"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3.png"/><Relationship Id="rId21" Type="http://schemas.openxmlformats.org/officeDocument/2006/relationships/image" Target="../media/image20.svg"/><Relationship Id="rId34" Type="http://schemas.openxmlformats.org/officeDocument/2006/relationships/image" Target="../media/image33.png"/><Relationship Id="rId7" Type="http://schemas.openxmlformats.org/officeDocument/2006/relationships/image" Target="../media/image6.png"/><Relationship Id="rId12" Type="http://schemas.openxmlformats.org/officeDocument/2006/relationships/image" Target="../media/image11.jpg"/><Relationship Id="rId17" Type="http://schemas.openxmlformats.org/officeDocument/2006/relationships/image" Target="../media/image16.svg"/><Relationship Id="rId25" Type="http://schemas.openxmlformats.org/officeDocument/2006/relationships/image" Target="../media/image24.svg"/><Relationship Id="rId33" Type="http://schemas.openxmlformats.org/officeDocument/2006/relationships/image" Target="../media/image32.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pn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png"/><Relationship Id="rId4" Type="http://schemas.microsoft.com/office/2007/relationships/hdphoto" Target="../media/hdphoto1.wdp"/><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6" name="Rectangle 13"/>
          <p:cNvSpPr txBox="1">
            <a:spLocks noChangeArrowheads="1"/>
          </p:cNvSpPr>
          <p:nvPr/>
        </p:nvSpPr>
        <p:spPr bwMode="auto">
          <a:xfrm>
            <a:off x="-2459" y="653937"/>
            <a:ext cx="43893659" cy="6168557"/>
          </a:xfrm>
          <a:prstGeom prst="rect">
            <a:avLst/>
          </a:prstGeom>
          <a:blipFill dpi="0" rotWithShape="1">
            <a:blip r:embed="rId3">
              <a:extLst>
                <a:ext uri="{BEBA8EAE-BF5A-486C-A8C5-ECC9F3942E4B}">
                  <a14:imgProps xmlns:a14="http://schemas.microsoft.com/office/drawing/2010/main">
                    <a14:imgLayer r:embed="rId4">
                      <a14:imgEffect>
                        <a14:brightnessContrast contrast="-18000"/>
                      </a14:imgEffect>
                    </a14:imgLayer>
                  </a14:imgProps>
                </a:ext>
              </a:extLst>
            </a:blip>
            <a:srcRect/>
            <a:stretch>
              <a:fillRect/>
            </a:stretch>
          </a:blipFill>
          <a:ln w="127000" cap="flat" cmpd="sng">
            <a:solidFill>
              <a:schemeClr val="accent6">
                <a:lumMod val="50000"/>
              </a:schemeClr>
            </a:solidFill>
            <a:miter lim="800000"/>
          </a:ln>
          <a:effectLst>
            <a:glow>
              <a:schemeClr val="tx1"/>
            </a:glow>
            <a:innerShdw blurRad="114300">
              <a:schemeClr val="accent6">
                <a:alpha val="50000"/>
              </a:schemeClr>
            </a:innerShdw>
            <a:softEdge rad="63500"/>
          </a:effectLst>
          <a:scene3d>
            <a:camera prst="orthographicFront"/>
            <a:lightRig rig="threePt" dir="t"/>
          </a:scene3d>
          <a:sp3d extrusionH="38100" contourW="38100" prstMaterial="dkEdge">
            <a:bevelT w="38100" h="38100"/>
            <a:bevelB w="38100" h="38100"/>
            <a:extrusionClr>
              <a:schemeClr val="tx1"/>
            </a:extrusionClr>
            <a:contourClr>
              <a:schemeClr val="tx1"/>
            </a:contourClr>
          </a:sp3d>
        </p:spPr>
        <p:txBody>
          <a:bodyPr vert="horz" wrap="square" lIns="376203" tIns="188102" rIns="376203" bIns="188102" anchor="ctr" anchorCtr="0" compatLnSpc="1">
            <a:prstTxWarp prst="textNoShape">
              <a:avLst/>
            </a:prstTxWarp>
          </a:bodyPr>
          <a:lstStyle>
            <a:defPPr>
              <a:defRPr kern="1200"/>
            </a:defPPr>
            <a:lvl1pPr algn="ctr" defTabSz="3762375" rtl="0" eaLnBrk="0" fontAlgn="base" hangingPunct="0">
              <a:spcBef>
                <a:spcPct val="0"/>
              </a:spcBef>
              <a:spcAft>
                <a:spcPct val="0"/>
              </a:spcAft>
              <a:defRPr sz="18200">
                <a:solidFill>
                  <a:schemeClr val="tx2"/>
                </a:solidFill>
                <a:latin typeface="+mj-lt"/>
                <a:ea typeface="+mj-ea"/>
                <a:cs typeface="+mj-cs"/>
              </a:defRPr>
            </a:lvl1pPr>
            <a:lvl2pPr algn="ctr" defTabSz="3762375" rtl="0" eaLnBrk="0" fontAlgn="base" hangingPunct="0">
              <a:spcBef>
                <a:spcPct val="0"/>
              </a:spcBef>
              <a:spcAft>
                <a:spcPct val="0"/>
              </a:spcAft>
              <a:defRPr sz="18200">
                <a:solidFill>
                  <a:schemeClr val="tx2"/>
                </a:solidFill>
                <a:latin typeface="Arial"/>
              </a:defRPr>
            </a:lvl2pPr>
            <a:lvl3pPr algn="ctr" defTabSz="3762375" rtl="0" eaLnBrk="0" fontAlgn="base" hangingPunct="0">
              <a:spcBef>
                <a:spcPct val="0"/>
              </a:spcBef>
              <a:spcAft>
                <a:spcPct val="0"/>
              </a:spcAft>
              <a:defRPr sz="18200">
                <a:solidFill>
                  <a:schemeClr val="tx2"/>
                </a:solidFill>
                <a:latin typeface="Arial"/>
              </a:defRPr>
            </a:lvl3pPr>
            <a:lvl4pPr algn="ctr" defTabSz="3762375" rtl="0" eaLnBrk="0" fontAlgn="base" hangingPunct="0">
              <a:spcBef>
                <a:spcPct val="0"/>
              </a:spcBef>
              <a:spcAft>
                <a:spcPct val="0"/>
              </a:spcAft>
              <a:defRPr sz="18200">
                <a:solidFill>
                  <a:schemeClr val="tx2"/>
                </a:solidFill>
                <a:latin typeface="Arial"/>
              </a:defRPr>
            </a:lvl4pPr>
            <a:lvl5pPr algn="ctr" defTabSz="3762375" rtl="0" eaLnBrk="0" fontAlgn="base" hangingPunct="0">
              <a:spcBef>
                <a:spcPct val="0"/>
              </a:spcBef>
              <a:spcAft>
                <a:spcPct val="0"/>
              </a:spcAft>
              <a:defRPr sz="18200">
                <a:solidFill>
                  <a:schemeClr val="tx2"/>
                </a:solidFill>
                <a:latin typeface="Arial"/>
              </a:defRPr>
            </a:lvl5pPr>
            <a:lvl6pPr marL="457200" algn="ctr" defTabSz="3762375" rtl="0" fontAlgn="base">
              <a:spcBef>
                <a:spcPct val="0"/>
              </a:spcBef>
              <a:spcAft>
                <a:spcPct val="0"/>
              </a:spcAft>
              <a:defRPr sz="18200">
                <a:solidFill>
                  <a:schemeClr val="tx2"/>
                </a:solidFill>
                <a:latin typeface="Arial"/>
              </a:defRPr>
            </a:lvl6pPr>
            <a:lvl7pPr marL="914400" algn="ctr" defTabSz="3762375" rtl="0" fontAlgn="base">
              <a:spcBef>
                <a:spcPct val="0"/>
              </a:spcBef>
              <a:spcAft>
                <a:spcPct val="0"/>
              </a:spcAft>
              <a:defRPr sz="18200">
                <a:solidFill>
                  <a:schemeClr val="tx2"/>
                </a:solidFill>
                <a:latin typeface="Arial"/>
              </a:defRPr>
            </a:lvl7pPr>
            <a:lvl8pPr marL="1371600" algn="ctr" defTabSz="3762375" rtl="0" fontAlgn="base">
              <a:spcBef>
                <a:spcPct val="0"/>
              </a:spcBef>
              <a:spcAft>
                <a:spcPct val="0"/>
              </a:spcAft>
              <a:defRPr sz="18200">
                <a:solidFill>
                  <a:schemeClr val="tx2"/>
                </a:solidFill>
                <a:latin typeface="Arial"/>
              </a:defRPr>
            </a:lvl8pPr>
            <a:lvl9pPr marL="1828800" algn="ctr" defTabSz="3762375" rtl="0" fontAlgn="base">
              <a:spcBef>
                <a:spcPct val="0"/>
              </a:spcBef>
              <a:spcAft>
                <a:spcPct val="0"/>
              </a:spcAft>
              <a:defRPr sz="18200">
                <a:solidFill>
                  <a:schemeClr val="tx2"/>
                </a:solidFill>
                <a:latin typeface="Arial"/>
              </a:defRPr>
            </a:lvl9pPr>
          </a:lstStyle>
          <a:p>
            <a:pPr eaLnBrk="1" hangingPunct="1"/>
            <a:endParaRPr lang="en-US" dirty="0"/>
          </a:p>
        </p:txBody>
      </p:sp>
      <p:sp>
        <p:nvSpPr>
          <p:cNvPr id="60" name="Title 11">
            <a:extLst>
              <a:ext uri="{FF2B5EF4-FFF2-40B4-BE49-F238E27FC236}">
                <a16:creationId xmlns:a16="http://schemas.microsoft.com/office/drawing/2014/main" id="{EE7A5C51-35F0-4B71-992D-43D344D16C04}"/>
              </a:ext>
            </a:extLst>
          </p:cNvPr>
          <p:cNvSpPr txBox="1"/>
          <p:nvPr/>
        </p:nvSpPr>
        <p:spPr>
          <a:xfrm>
            <a:off x="-2459" y="831441"/>
            <a:ext cx="43891200" cy="4173629"/>
          </a:xfrm>
          <a:prstGeom prst="rect">
            <a:avLst/>
          </a:prstGeom>
          <a:noFill/>
          <a:ln w="50800">
            <a:noFill/>
          </a:ln>
          <a:effectLst>
            <a:outerShdw blurRad="50800" dist="50800" dir="5400000" algn="ctr" rotWithShape="0">
              <a:srgbClr val="000000">
                <a:alpha val="68000"/>
              </a:srgbClr>
            </a:outerShdw>
          </a:effectLst>
        </p:spPr>
        <p:txBody>
          <a:bodyPr lIns="128016" tIns="64008" rIns="128016" bIns="64008"/>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12000" b="1" dirty="0">
                <a:ln w="44450">
                  <a:solidFill>
                    <a:schemeClr val="tx1"/>
                  </a:solidFill>
                </a:ln>
                <a:solidFill>
                  <a:schemeClr val="bg1"/>
                </a:solidFill>
                <a:effectLst>
                  <a:glow rad="63500">
                    <a:schemeClr val="tx1">
                      <a:alpha val="40000"/>
                    </a:schemeClr>
                  </a:glow>
                  <a:innerShdw blurRad="114300">
                    <a:prstClr val="black">
                      <a:alpha val="70000"/>
                    </a:prstClr>
                  </a:innerShdw>
                </a:effectLst>
                <a:latin typeface="+mj-lt"/>
              </a:rPr>
              <a:t>Improving Minority-Class Classification in Large, </a:t>
            </a:r>
          </a:p>
          <a:p>
            <a:pPr algn="ctr"/>
            <a:r>
              <a:rPr lang="en-US" sz="12000" b="1" dirty="0">
                <a:ln w="44450">
                  <a:solidFill>
                    <a:schemeClr val="tx1"/>
                  </a:solidFill>
                </a:ln>
                <a:solidFill>
                  <a:schemeClr val="bg1"/>
                </a:solidFill>
                <a:effectLst>
                  <a:glow rad="63500">
                    <a:schemeClr val="tx1">
                      <a:alpha val="40000"/>
                    </a:schemeClr>
                  </a:glow>
                  <a:innerShdw blurRad="114300">
                    <a:prstClr val="black">
                      <a:alpha val="70000"/>
                    </a:prstClr>
                  </a:innerShdw>
                </a:effectLst>
                <a:latin typeface="+mj-lt"/>
              </a:rPr>
              <a:t>Imbalanced Datasets</a:t>
            </a:r>
          </a:p>
        </p:txBody>
      </p:sp>
      <p:sp>
        <p:nvSpPr>
          <p:cNvPr id="61" name="Text Placeholder 16">
            <a:extLst>
              <a:ext uri="{FF2B5EF4-FFF2-40B4-BE49-F238E27FC236}">
                <a16:creationId xmlns:a16="http://schemas.microsoft.com/office/drawing/2014/main" id="{1F3AA395-C058-4F87-B3A3-A8A8BC543EF9}"/>
              </a:ext>
            </a:extLst>
          </p:cNvPr>
          <p:cNvSpPr txBox="1"/>
          <p:nvPr/>
        </p:nvSpPr>
        <p:spPr>
          <a:xfrm>
            <a:off x="27167328" y="4885337"/>
            <a:ext cx="20574000" cy="1791260"/>
          </a:xfrm>
          <a:prstGeom prst="rect">
            <a:avLst/>
          </a:prstGeom>
          <a:effectLst/>
        </p:spPr>
        <p:txBody>
          <a:bodyPr wrap="square" lIns="128016" tIns="64008" rIns="128016" bIns="64008">
            <a:spAutoFit/>
          </a:bodyPr>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Advisors: </a:t>
            </a:r>
            <a:r>
              <a:rPr lang="en-US" sz="5400" b="1" dirty="0" err="1">
                <a:solidFill>
                  <a:schemeClr val="bg1"/>
                </a:solidFill>
                <a:effectLst>
                  <a:outerShdw blurRad="38100" dist="38100" dir="2700000" algn="tl">
                    <a:srgbClr val="000000">
                      <a:alpha val="43137"/>
                    </a:srgbClr>
                  </a:outerShdw>
                </a:effectLst>
                <a:latin typeface="Titillium Web" panose="00000500000000000000" pitchFamily="2" charset="0"/>
              </a:rPr>
              <a:t>Yugyung</a:t>
            </a: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 Lee (Leeyu@umkc.edu)</a:t>
            </a:r>
          </a:p>
          <a:p>
            <a:pPr algn="ct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Luke Miller (ljmbm5@umsystem.edu)</a:t>
            </a:r>
          </a:p>
        </p:txBody>
      </p:sp>
      <p:sp>
        <p:nvSpPr>
          <p:cNvPr id="41" name="Rectangle 40">
            <a:extLst>
              <a:ext uri="{FF2B5EF4-FFF2-40B4-BE49-F238E27FC236}">
                <a16:creationId xmlns:a16="http://schemas.microsoft.com/office/drawing/2014/main" id="{C24D4BC5-5256-4C2E-B3FB-87EA69B63AF3}"/>
              </a:ext>
            </a:extLst>
          </p:cNvPr>
          <p:cNvSpPr/>
          <p:nvPr/>
        </p:nvSpPr>
        <p:spPr>
          <a:xfrm>
            <a:off x="671912" y="7513379"/>
            <a:ext cx="10058400" cy="78028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45" name="Rectangle 44">
            <a:extLst>
              <a:ext uri="{FF2B5EF4-FFF2-40B4-BE49-F238E27FC236}">
                <a16:creationId xmlns:a16="http://schemas.microsoft.com/office/drawing/2014/main" id="{0F831EE1-8866-4A3E-8CAB-8624A11FF145}"/>
              </a:ext>
            </a:extLst>
          </p:cNvPr>
          <p:cNvSpPr/>
          <p:nvPr/>
        </p:nvSpPr>
        <p:spPr>
          <a:xfrm>
            <a:off x="11513810" y="7499728"/>
            <a:ext cx="10058400" cy="246947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48" name="Rectangle 47">
            <a:extLst>
              <a:ext uri="{FF2B5EF4-FFF2-40B4-BE49-F238E27FC236}">
                <a16:creationId xmlns:a16="http://schemas.microsoft.com/office/drawing/2014/main" id="{D026A6A3-D6D2-4951-8B04-EF51015D25DB}"/>
              </a:ext>
            </a:extLst>
          </p:cNvPr>
          <p:cNvSpPr/>
          <p:nvPr/>
        </p:nvSpPr>
        <p:spPr>
          <a:xfrm>
            <a:off x="22327952" y="7513379"/>
            <a:ext cx="10058400" cy="246947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1" name="Rectangle 50">
            <a:extLst>
              <a:ext uri="{FF2B5EF4-FFF2-40B4-BE49-F238E27FC236}">
                <a16:creationId xmlns:a16="http://schemas.microsoft.com/office/drawing/2014/main" id="{19BFD724-D51D-4DD6-A93A-40ABEA405C90}"/>
              </a:ext>
            </a:extLst>
          </p:cNvPr>
          <p:cNvSpPr/>
          <p:nvPr/>
        </p:nvSpPr>
        <p:spPr>
          <a:xfrm>
            <a:off x="33155973" y="7517018"/>
            <a:ext cx="10058400" cy="21497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4" name="Rectangle 53">
            <a:extLst>
              <a:ext uri="{FF2B5EF4-FFF2-40B4-BE49-F238E27FC236}">
                <a16:creationId xmlns:a16="http://schemas.microsoft.com/office/drawing/2014/main" id="{236036AE-C83F-4AC9-800C-C6574727635F}"/>
              </a:ext>
            </a:extLst>
          </p:cNvPr>
          <p:cNvSpPr/>
          <p:nvPr/>
        </p:nvSpPr>
        <p:spPr>
          <a:xfrm>
            <a:off x="658716" y="16406317"/>
            <a:ext cx="10058400" cy="1578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7" name="Rectangle 56">
            <a:extLst>
              <a:ext uri="{FF2B5EF4-FFF2-40B4-BE49-F238E27FC236}">
                <a16:creationId xmlns:a16="http://schemas.microsoft.com/office/drawing/2014/main" id="{65D5CB20-8752-4D75-A601-0EEB3443D27F}"/>
              </a:ext>
            </a:extLst>
          </p:cNvPr>
          <p:cNvSpPr/>
          <p:nvPr/>
        </p:nvSpPr>
        <p:spPr>
          <a:xfrm>
            <a:off x="33158429" y="30427455"/>
            <a:ext cx="10058400" cy="17669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8" name="TextBox 19">
            <a:extLst>
              <a:ext uri="{FF2B5EF4-FFF2-40B4-BE49-F238E27FC236}">
                <a16:creationId xmlns:a16="http://schemas.microsoft.com/office/drawing/2014/main" id="{B4F3D693-DA0F-454D-94C0-CEAA07C14AE3}"/>
              </a:ext>
            </a:extLst>
          </p:cNvPr>
          <p:cNvSpPr txBox="1">
            <a:spLocks noChangeArrowheads="1"/>
          </p:cNvSpPr>
          <p:nvPr/>
        </p:nvSpPr>
        <p:spPr bwMode="auto">
          <a:xfrm>
            <a:off x="33646763" y="30876572"/>
            <a:ext cx="5653437" cy="120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r>
              <a:rPr lang="en-US" dirty="0">
                <a:effectLst/>
                <a:latin typeface="Titillium Web" panose="00000500000000000000" pitchFamily="2" charset="0"/>
                <a:ea typeface="Open Sans" panose="020B0606030504020204" pitchFamily="34" charset="0"/>
                <a:cs typeface="Open Sans" panose="020B0606030504020204" pitchFamily="34" charset="0"/>
              </a:rPr>
              <a:t>Special thanks to:</a:t>
            </a:r>
          </a:p>
          <a:p>
            <a:r>
              <a:rPr lang="en-US" dirty="0">
                <a:effectLst/>
                <a:latin typeface="Titillium Web" panose="00000500000000000000" pitchFamily="2" charset="0"/>
                <a:ea typeface="Open Sans" panose="020B0606030504020204" pitchFamily="34" charset="0"/>
                <a:cs typeface="Open Sans" panose="020B0606030504020204" pitchFamily="34" charset="0"/>
              </a:rPr>
              <a:t>Dr. </a:t>
            </a:r>
            <a:r>
              <a:rPr lang="en-US" dirty="0" err="1">
                <a:effectLst/>
                <a:latin typeface="Titillium Web" panose="00000500000000000000" pitchFamily="2" charset="0"/>
                <a:ea typeface="Open Sans" panose="020B0606030504020204" pitchFamily="34" charset="0"/>
                <a:cs typeface="Open Sans" panose="020B0606030504020204" pitchFamily="34" charset="0"/>
              </a:rPr>
              <a:t>Yugyung</a:t>
            </a:r>
            <a:r>
              <a:rPr lang="en-US" dirty="0">
                <a:effectLst/>
                <a:latin typeface="Titillium Web" panose="00000500000000000000" pitchFamily="2" charset="0"/>
                <a:ea typeface="Open Sans" panose="020B0606030504020204" pitchFamily="34" charset="0"/>
                <a:cs typeface="Open Sans" panose="020B0606030504020204" pitchFamily="34" charset="0"/>
              </a:rPr>
              <a:t> Lee and Luke Miller in their guidance on this project.</a:t>
            </a:r>
          </a:p>
        </p:txBody>
      </p:sp>
      <p:sp>
        <p:nvSpPr>
          <p:cNvPr id="44" name="Rectangle 43">
            <a:extLst>
              <a:ext uri="{FF2B5EF4-FFF2-40B4-BE49-F238E27FC236}">
                <a16:creationId xmlns:a16="http://schemas.microsoft.com/office/drawing/2014/main" id="{4EDA12B6-07B5-44F9-8F8B-E1BE66469DB6}"/>
              </a:ext>
            </a:extLst>
          </p:cNvPr>
          <p:cNvSpPr>
            <a:spLocks noChangeArrowheads="1"/>
          </p:cNvSpPr>
          <p:nvPr/>
        </p:nvSpPr>
        <p:spPr bwMode="auto">
          <a:xfrm>
            <a:off x="671912" y="7440900"/>
            <a:ext cx="10058400"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4000" b="1" dirty="0">
                <a:solidFill>
                  <a:schemeClr val="bg1"/>
                </a:solidFill>
                <a:effectLst/>
                <a:latin typeface="+mj-lt"/>
              </a:rPr>
              <a:t>Introduction</a:t>
            </a:r>
          </a:p>
        </p:txBody>
      </p:sp>
      <p:sp>
        <p:nvSpPr>
          <p:cNvPr id="56" name="Rectangle 55">
            <a:extLst>
              <a:ext uri="{FF2B5EF4-FFF2-40B4-BE49-F238E27FC236}">
                <a16:creationId xmlns:a16="http://schemas.microsoft.com/office/drawing/2014/main" id="{8C463412-CC68-4A0F-AE72-68EF99EB2F46}"/>
              </a:ext>
            </a:extLst>
          </p:cNvPr>
          <p:cNvSpPr>
            <a:spLocks noChangeArrowheads="1"/>
          </p:cNvSpPr>
          <p:nvPr/>
        </p:nvSpPr>
        <p:spPr bwMode="auto">
          <a:xfrm>
            <a:off x="664973" y="15567438"/>
            <a:ext cx="10058400"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3600" b="1" dirty="0">
                <a:solidFill>
                  <a:schemeClr val="bg1"/>
                </a:solidFill>
                <a:effectLst/>
                <a:latin typeface="+mj-lt"/>
              </a:rPr>
              <a:t>Dataset &amp; Knowledge Graph</a:t>
            </a:r>
          </a:p>
        </p:txBody>
      </p:sp>
      <p:sp>
        <p:nvSpPr>
          <p:cNvPr id="47" name="Rectangle 46">
            <a:extLst>
              <a:ext uri="{FF2B5EF4-FFF2-40B4-BE49-F238E27FC236}">
                <a16:creationId xmlns:a16="http://schemas.microsoft.com/office/drawing/2014/main" id="{868B6862-5CC5-4906-AC03-EA9661AD1346}"/>
              </a:ext>
            </a:extLst>
          </p:cNvPr>
          <p:cNvSpPr>
            <a:spLocks noChangeArrowheads="1"/>
          </p:cNvSpPr>
          <p:nvPr/>
        </p:nvSpPr>
        <p:spPr bwMode="auto">
          <a:xfrm>
            <a:off x="11513810" y="7457425"/>
            <a:ext cx="10058400"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3600" b="1" dirty="0">
                <a:solidFill>
                  <a:schemeClr val="bg1"/>
                </a:solidFill>
                <a:effectLst/>
                <a:latin typeface="+mj-lt"/>
              </a:rPr>
              <a:t>Methodology</a:t>
            </a:r>
          </a:p>
        </p:txBody>
      </p:sp>
      <p:sp>
        <p:nvSpPr>
          <p:cNvPr id="50" name="Rectangle 49">
            <a:extLst>
              <a:ext uri="{FF2B5EF4-FFF2-40B4-BE49-F238E27FC236}">
                <a16:creationId xmlns:a16="http://schemas.microsoft.com/office/drawing/2014/main" id="{3D96BB99-3F6E-4E73-BA6B-A122D83B12A2}"/>
              </a:ext>
            </a:extLst>
          </p:cNvPr>
          <p:cNvSpPr>
            <a:spLocks noChangeArrowheads="1"/>
          </p:cNvSpPr>
          <p:nvPr/>
        </p:nvSpPr>
        <p:spPr bwMode="auto">
          <a:xfrm>
            <a:off x="22327952" y="7457949"/>
            <a:ext cx="10058400"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3600" b="1" dirty="0">
                <a:solidFill>
                  <a:schemeClr val="bg1"/>
                </a:solidFill>
                <a:effectLst/>
              </a:rPr>
              <a:t>Results</a:t>
            </a:r>
            <a:endParaRPr lang="en-US" sz="3600" b="1" dirty="0">
              <a:solidFill>
                <a:schemeClr val="bg1"/>
              </a:solidFill>
              <a:effectLst/>
              <a:latin typeface="Amaranth" panose="02000503050000020004" pitchFamily="2" charset="0"/>
            </a:endParaRPr>
          </a:p>
        </p:txBody>
      </p:sp>
      <p:sp>
        <p:nvSpPr>
          <p:cNvPr id="53" name="Rectangle 52">
            <a:extLst>
              <a:ext uri="{FF2B5EF4-FFF2-40B4-BE49-F238E27FC236}">
                <a16:creationId xmlns:a16="http://schemas.microsoft.com/office/drawing/2014/main" id="{0BE282AE-183A-4D49-B152-23A5A101BEA6}"/>
              </a:ext>
            </a:extLst>
          </p:cNvPr>
          <p:cNvSpPr>
            <a:spLocks noChangeArrowheads="1"/>
          </p:cNvSpPr>
          <p:nvPr/>
        </p:nvSpPr>
        <p:spPr bwMode="auto">
          <a:xfrm>
            <a:off x="33155973" y="7457425"/>
            <a:ext cx="10058400"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3600" b="1" dirty="0">
                <a:solidFill>
                  <a:schemeClr val="bg1"/>
                </a:solidFill>
                <a:effectLst/>
              </a:rPr>
              <a:t>Conclusion</a:t>
            </a:r>
          </a:p>
        </p:txBody>
      </p:sp>
      <p:sp>
        <p:nvSpPr>
          <p:cNvPr id="59" name="Rectangle 58">
            <a:extLst>
              <a:ext uri="{FF2B5EF4-FFF2-40B4-BE49-F238E27FC236}">
                <a16:creationId xmlns:a16="http://schemas.microsoft.com/office/drawing/2014/main" id="{5EDC1F28-88BB-4DAD-9112-B4904B4A7E46}"/>
              </a:ext>
            </a:extLst>
          </p:cNvPr>
          <p:cNvSpPr>
            <a:spLocks noChangeArrowheads="1"/>
          </p:cNvSpPr>
          <p:nvPr/>
        </p:nvSpPr>
        <p:spPr bwMode="auto">
          <a:xfrm>
            <a:off x="33157049" y="29511056"/>
            <a:ext cx="10058399" cy="856940"/>
          </a:xfrm>
          <a:prstGeom prst="rect">
            <a:avLst/>
          </a:prstGeom>
          <a:solidFill>
            <a:schemeClr val="accent6">
              <a:lumMod val="75000"/>
            </a:schemeClr>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ctr" defTabSz="4702588">
              <a:defRPr/>
            </a:pPr>
            <a:r>
              <a:rPr lang="en-US" sz="3600" b="1" dirty="0">
                <a:solidFill>
                  <a:schemeClr val="bg1"/>
                </a:solidFill>
                <a:effectLst/>
                <a:latin typeface="+mj-lt"/>
              </a:rPr>
              <a:t>Acknowledgements</a:t>
            </a:r>
          </a:p>
        </p:txBody>
      </p:sp>
      <p:sp>
        <p:nvSpPr>
          <p:cNvPr id="38" name="Text Box 6">
            <a:extLst>
              <a:ext uri="{FF2B5EF4-FFF2-40B4-BE49-F238E27FC236}">
                <a16:creationId xmlns:a16="http://schemas.microsoft.com/office/drawing/2014/main" id="{58B3357B-4821-4FA8-8444-207C696AAAD4}"/>
              </a:ext>
            </a:extLst>
          </p:cNvPr>
          <p:cNvSpPr txBox="1">
            <a:spLocks noChangeArrowheads="1"/>
          </p:cNvSpPr>
          <p:nvPr/>
        </p:nvSpPr>
        <p:spPr bwMode="auto">
          <a:xfrm>
            <a:off x="886779" y="8203599"/>
            <a:ext cx="9601200" cy="7525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b="1" u="sng" dirty="0"/>
              <a:t>Problem</a:t>
            </a:r>
          </a:p>
          <a:p>
            <a:r>
              <a:rPr lang="en-US" sz="2400" dirty="0"/>
              <a:t>Minority-class classification is difficult in large imbalanced datasets, causing misclassifications in classification models.</a:t>
            </a:r>
          </a:p>
          <a:p>
            <a:endParaRPr lang="en-US" sz="2400" dirty="0"/>
          </a:p>
          <a:p>
            <a:r>
              <a:rPr lang="en-US" sz="2400" b="1" u="sng" dirty="0"/>
              <a:t>Motivation</a:t>
            </a:r>
          </a:p>
          <a:p>
            <a:pPr marL="342900" indent="-342900">
              <a:buFont typeface="Arial" panose="020B0604020202020204" pitchFamily="34" charset="0"/>
              <a:buChar char="•"/>
            </a:pPr>
            <a:r>
              <a:rPr lang="en-US" sz="2400" dirty="0"/>
              <a:t>In cybersecurity intrusion detection models, many attacks are rare.</a:t>
            </a:r>
          </a:p>
          <a:p>
            <a:pPr marL="342900" indent="-342900">
              <a:buFont typeface="Arial" panose="020B0604020202020204" pitchFamily="34" charset="0"/>
              <a:buChar char="•"/>
            </a:pPr>
            <a:r>
              <a:rPr lang="en-US" sz="2400" dirty="0"/>
              <a:t>Big datasets have very few examples of these rare, minority classes, so even good models miss them and can lead to blind spots in security monitoring.</a:t>
            </a:r>
          </a:p>
          <a:p>
            <a:pPr marL="342900" indent="-342900">
              <a:buFont typeface="Arial" panose="020B0604020202020204" pitchFamily="34" charset="0"/>
              <a:buChar char="•"/>
            </a:pPr>
            <a:r>
              <a:rPr lang="en-US" sz="2400" dirty="0"/>
              <a:t>Improving minority classification in cybersecurity is transferable to many domains, including healthcare, medical imaging, insurance, E-commerce, financial investments and more.</a:t>
            </a:r>
          </a:p>
          <a:p>
            <a:endParaRPr lang="en-US" sz="2400" dirty="0"/>
          </a:p>
          <a:p>
            <a:r>
              <a:rPr lang="en-US" sz="2400" b="1" u="sng" dirty="0"/>
              <a:t>Goals</a:t>
            </a:r>
          </a:p>
          <a:p>
            <a:pPr marL="342900" indent="-342900">
              <a:buFont typeface="Arial" panose="020B0604020202020204" pitchFamily="34" charset="0"/>
              <a:buChar char="•"/>
            </a:pPr>
            <a:r>
              <a:rPr lang="en-US" sz="2400" dirty="0"/>
              <a:t>Improve minority-class detection without hurting other classes.</a:t>
            </a:r>
          </a:p>
          <a:p>
            <a:pPr marL="342900" indent="-342900">
              <a:buFont typeface="Arial" panose="020B0604020202020204" pitchFamily="34" charset="0"/>
              <a:buChar char="•"/>
            </a:pPr>
            <a:r>
              <a:rPr lang="en-US" sz="2400" dirty="0"/>
              <a:t>Add knowledge graph (KG) context to flows (who talks to whom, how often, how rare).</a:t>
            </a:r>
          </a:p>
          <a:p>
            <a:pPr marL="342900" indent="-342900">
              <a:buFont typeface="Arial" panose="020B0604020202020204" pitchFamily="34" charset="0"/>
              <a:buChar char="•"/>
            </a:pPr>
            <a:r>
              <a:rPr lang="en-US" sz="2400" dirty="0"/>
              <a:t>Compare methods with and without knowledge graph context.</a:t>
            </a:r>
          </a:p>
          <a:p>
            <a:pPr marL="342900" indent="-342900">
              <a:buFont typeface="Arial" panose="020B0604020202020204" pitchFamily="34" charset="0"/>
              <a:buChar char="•"/>
            </a:pPr>
            <a:r>
              <a:rPr lang="en-US" sz="2400" dirty="0"/>
              <a:t>Compare classical vs. quantum computing methods.</a:t>
            </a:r>
          </a:p>
          <a:p>
            <a:endParaRPr lang="en-US" sz="2400" dirty="0"/>
          </a:p>
        </p:txBody>
      </p:sp>
      <p:sp>
        <p:nvSpPr>
          <p:cNvPr id="39" name="Text Box 6">
            <a:extLst>
              <a:ext uri="{FF2B5EF4-FFF2-40B4-BE49-F238E27FC236}">
                <a16:creationId xmlns:a16="http://schemas.microsoft.com/office/drawing/2014/main" id="{1B3DAFDC-3567-41A6-899A-8D92E3BE5771}"/>
              </a:ext>
            </a:extLst>
          </p:cNvPr>
          <p:cNvSpPr txBox="1">
            <a:spLocks noChangeArrowheads="1"/>
          </p:cNvSpPr>
          <p:nvPr/>
        </p:nvSpPr>
        <p:spPr bwMode="auto">
          <a:xfrm>
            <a:off x="866710" y="16318885"/>
            <a:ext cx="9601200" cy="5309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b="1" u="sng" dirty="0"/>
              <a:t>Dataset &amp; Preprocessing</a:t>
            </a:r>
          </a:p>
          <a:p>
            <a:r>
              <a:rPr lang="en-US" sz="2400" b="1" dirty="0"/>
              <a:t>CSE-CIC-IDS2018</a:t>
            </a:r>
            <a:r>
              <a:rPr lang="en-US" sz="2400" dirty="0"/>
              <a:t>, (15 classes, 14 attack classes, highly imbalanced) multi-class network flows. </a:t>
            </a:r>
          </a:p>
          <a:p>
            <a:r>
              <a:rPr lang="en-US" sz="2400" dirty="0"/>
              <a:t>Dataset size post processing: 10189072 Rows, 89 Columns</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251" name="Text Box 6">
            <a:extLst>
              <a:ext uri="{FF2B5EF4-FFF2-40B4-BE49-F238E27FC236}">
                <a16:creationId xmlns:a16="http://schemas.microsoft.com/office/drawing/2014/main" id="{415768D9-2D35-44FA-889C-1EC1DE8F0C08}"/>
              </a:ext>
            </a:extLst>
          </p:cNvPr>
          <p:cNvSpPr txBox="1">
            <a:spLocks noChangeArrowheads="1"/>
          </p:cNvSpPr>
          <p:nvPr/>
        </p:nvSpPr>
        <p:spPr bwMode="auto">
          <a:xfrm>
            <a:off x="22556552" y="8655031"/>
            <a:ext cx="9601200" cy="507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endParaRPr lang="en-US" sz="2400" dirty="0">
              <a:latin typeface="Titillium Web" panose="00000500000000000000" pitchFamily="2" charset="0"/>
              <a:ea typeface="Open Sans" panose="020B0606030504020204" pitchFamily="34" charset="0"/>
              <a:cs typeface="Open Sans" panose="020B0606030504020204" pitchFamily="34" charset="0"/>
            </a:endParaRPr>
          </a:p>
        </p:txBody>
      </p:sp>
      <p:sp>
        <p:nvSpPr>
          <p:cNvPr id="259" name="TextBox 258">
            <a:extLst>
              <a:ext uri="{FF2B5EF4-FFF2-40B4-BE49-F238E27FC236}">
                <a16:creationId xmlns:a16="http://schemas.microsoft.com/office/drawing/2014/main" id="{5BA5B394-92CD-4B3C-9507-4B3F124A5E31}"/>
              </a:ext>
            </a:extLst>
          </p:cNvPr>
          <p:cNvSpPr txBox="1"/>
          <p:nvPr/>
        </p:nvSpPr>
        <p:spPr>
          <a:xfrm>
            <a:off x="664973" y="32348018"/>
            <a:ext cx="15093334" cy="461665"/>
          </a:xfrm>
          <a:prstGeom prst="rect">
            <a:avLst/>
          </a:prstGeom>
          <a:noFill/>
        </p:spPr>
        <p:txBody>
          <a:bodyPr wrap="square" rtlCol="0">
            <a:spAutoFit/>
          </a:bodyPr>
          <a:lstStyle>
            <a:defPPr>
              <a:defRPr kern="1200"/>
            </a:defPPr>
          </a:lstStyle>
          <a:p>
            <a:r>
              <a:rPr lang="en-US" sz="2400" b="1" dirty="0">
                <a:latin typeface="Titillium Web" panose="00000500000000000000" pitchFamily="2" charset="0"/>
                <a:ea typeface="Open Sans" panose="020B0606030504020204" pitchFamily="34" charset="0"/>
                <a:cs typeface="Open Sans" panose="020B0606030504020204" pitchFamily="34" charset="0"/>
              </a:rPr>
              <a:t>Link : https://colab.research.google.com/drive/1DC8KBelVWDp3NdKmdVvaZvT0nKKpMgDr?usp=sharing</a:t>
            </a:r>
          </a:p>
        </p:txBody>
      </p:sp>
      <p:pic>
        <p:nvPicPr>
          <p:cNvPr id="3" name="Picture 2" descr="A diagram of data processing&#10;&#10;AI-generated content may be incorrect.">
            <a:extLst>
              <a:ext uri="{FF2B5EF4-FFF2-40B4-BE49-F238E27FC236}">
                <a16:creationId xmlns:a16="http://schemas.microsoft.com/office/drawing/2014/main" id="{B33DB31F-D4B0-2B3A-EA88-17F813A872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18768" y="8436163"/>
            <a:ext cx="4844086" cy="4741890"/>
          </a:xfrm>
          <a:prstGeom prst="rect">
            <a:avLst/>
          </a:prstGeom>
        </p:spPr>
      </p:pic>
      <p:pic>
        <p:nvPicPr>
          <p:cNvPr id="6" name="Picture 5" descr="A colorful explosion of dots&#10;&#10;AI-generated content may be incorrect.">
            <a:extLst>
              <a:ext uri="{FF2B5EF4-FFF2-40B4-BE49-F238E27FC236}">
                <a16:creationId xmlns:a16="http://schemas.microsoft.com/office/drawing/2014/main" id="{59F33FEB-906E-7FEA-52E1-C68796AC1A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06871" y="13970303"/>
            <a:ext cx="10058401" cy="3194270"/>
          </a:xfrm>
          <a:prstGeom prst="rect">
            <a:avLst/>
          </a:prstGeom>
        </p:spPr>
      </p:pic>
      <p:sp>
        <p:nvSpPr>
          <p:cNvPr id="7" name="TextBox 6">
            <a:extLst>
              <a:ext uri="{FF2B5EF4-FFF2-40B4-BE49-F238E27FC236}">
                <a16:creationId xmlns:a16="http://schemas.microsoft.com/office/drawing/2014/main" id="{639399D5-14F1-3416-2C19-B344007F3BE2}"/>
              </a:ext>
            </a:extLst>
          </p:cNvPr>
          <p:cNvSpPr txBox="1"/>
          <p:nvPr/>
        </p:nvSpPr>
        <p:spPr>
          <a:xfrm>
            <a:off x="12952561" y="13490496"/>
            <a:ext cx="6820586" cy="523220"/>
          </a:xfrm>
          <a:prstGeom prst="rect">
            <a:avLst/>
          </a:prstGeom>
          <a:noFill/>
        </p:spPr>
        <p:txBody>
          <a:bodyPr wrap="square" rtlCol="0">
            <a:spAutoFit/>
          </a:bodyPr>
          <a:lstStyle/>
          <a:p>
            <a:r>
              <a:rPr lang="en-US" sz="2800" dirty="0"/>
              <a:t>Create Knowledge Graph on Train Split</a:t>
            </a:r>
          </a:p>
        </p:txBody>
      </p:sp>
      <p:graphicFrame>
        <p:nvGraphicFramePr>
          <p:cNvPr id="14" name="Table 13">
            <a:extLst>
              <a:ext uri="{FF2B5EF4-FFF2-40B4-BE49-F238E27FC236}">
                <a16:creationId xmlns:a16="http://schemas.microsoft.com/office/drawing/2014/main" id="{8F37C622-A618-4071-664F-22AB7A2E1D2F}"/>
              </a:ext>
            </a:extLst>
          </p:cNvPr>
          <p:cNvGraphicFramePr>
            <a:graphicFrameLocks noGrp="1"/>
          </p:cNvGraphicFramePr>
          <p:nvPr>
            <p:extLst>
              <p:ext uri="{D42A27DB-BD31-4B8C-83A1-F6EECF244321}">
                <p14:modId xmlns:p14="http://schemas.microsoft.com/office/powerpoint/2010/main" val="203815469"/>
              </p:ext>
            </p:extLst>
          </p:nvPr>
        </p:nvGraphicFramePr>
        <p:xfrm>
          <a:off x="879838" y="17894908"/>
          <a:ext cx="9608141" cy="9403518"/>
        </p:xfrm>
        <a:graphic>
          <a:graphicData uri="http://schemas.openxmlformats.org/drawingml/2006/table">
            <a:tbl>
              <a:tblPr firstRow="1" bandRow="1">
                <a:effectLst/>
                <a:tableStyleId>{00A15C55-8517-42AA-B614-E9B94910E393}</a:tableStyleId>
              </a:tblPr>
              <a:tblGrid>
                <a:gridCol w="4493552">
                  <a:extLst>
                    <a:ext uri="{9D8B030D-6E8A-4147-A177-3AD203B41FA5}">
                      <a16:colId xmlns:a16="http://schemas.microsoft.com/office/drawing/2014/main" val="1912246713"/>
                    </a:ext>
                  </a:extLst>
                </a:gridCol>
                <a:gridCol w="3800482">
                  <a:extLst>
                    <a:ext uri="{9D8B030D-6E8A-4147-A177-3AD203B41FA5}">
                      <a16:colId xmlns:a16="http://schemas.microsoft.com/office/drawing/2014/main" val="897348325"/>
                    </a:ext>
                  </a:extLst>
                </a:gridCol>
                <a:gridCol w="1314107">
                  <a:extLst>
                    <a:ext uri="{9D8B030D-6E8A-4147-A177-3AD203B41FA5}">
                      <a16:colId xmlns:a16="http://schemas.microsoft.com/office/drawing/2014/main" val="606772878"/>
                    </a:ext>
                  </a:extLst>
                </a:gridCol>
              </a:tblGrid>
              <a:tr h="439684">
                <a:tc gridSpan="3">
                  <a:txBody>
                    <a:bodyPr/>
                    <a:lstStyle/>
                    <a:p>
                      <a:pPr algn="ctr"/>
                      <a:r>
                        <a:rPr lang="en-US" sz="2400" dirty="0"/>
                        <a:t>CSE-CIC-IDS2018 Preprocessed</a:t>
                      </a:r>
                    </a:p>
                  </a:txBody>
                  <a:tcPr>
                    <a:cell3D prstMaterial="dkEdge">
                      <a:bevel prst="artDeco"/>
                      <a:lightRig rig="flood" dir="t"/>
                    </a:cell3D>
                    <a:solidFill>
                      <a:schemeClr val="accent6">
                        <a:lumMod val="75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052296151"/>
                  </a:ext>
                </a:extLst>
              </a:tr>
              <a:tr h="426369">
                <a:tc>
                  <a:txBody>
                    <a:bodyPr/>
                    <a:lstStyle/>
                    <a:p>
                      <a:pPr algn="ctr"/>
                      <a:r>
                        <a:rPr lang="en-US" sz="2400" b="1" u="sng" dirty="0"/>
                        <a:t>Attack Label</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b="1" u="sng" dirty="0"/>
                        <a:t>Count</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b="1" u="sng" dirty="0"/>
                        <a:t>%</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1942459989"/>
                  </a:ext>
                </a:extLst>
              </a:tr>
              <a:tr h="546173">
                <a:tc>
                  <a:txBody>
                    <a:bodyPr/>
                    <a:lstStyle/>
                    <a:p>
                      <a:pPr algn="ctr"/>
                      <a:r>
                        <a:rPr lang="en-US" sz="2400" dirty="0"/>
                        <a:t>Benign</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9,540,178</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93.63%</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510971324"/>
                  </a:ext>
                </a:extLst>
              </a:tr>
              <a:tr h="426369">
                <a:tc>
                  <a:txBody>
                    <a:bodyPr/>
                    <a:lstStyle/>
                    <a:p>
                      <a:pPr algn="ctr"/>
                      <a:r>
                        <a:rPr lang="en-US" sz="2400" dirty="0"/>
                        <a:t>DDoS attacks-LOIC-HTTP </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569,454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5.59%</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4163876427"/>
                  </a:ext>
                </a:extLst>
              </a:tr>
              <a:tr h="426369">
                <a:tc>
                  <a:txBody>
                    <a:bodyPr/>
                    <a:lstStyle/>
                    <a:p>
                      <a:pPr algn="ctr"/>
                      <a:r>
                        <a:rPr lang="en-US" sz="2400" dirty="0" err="1"/>
                        <a:t>Infilteration</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34,581</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0.34%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1998128641"/>
                  </a:ext>
                </a:extLst>
              </a:tr>
              <a:tr h="426369">
                <a:tc>
                  <a:txBody>
                    <a:bodyPr/>
                    <a:lstStyle/>
                    <a:p>
                      <a:pPr algn="ctr"/>
                      <a:r>
                        <a:rPr lang="en-US" sz="2400" dirty="0"/>
                        <a:t>Bot</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24,590</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0.24%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040773373"/>
                  </a:ext>
                </a:extLst>
              </a:tr>
              <a:tr h="546173">
                <a:tc>
                  <a:txBody>
                    <a:bodyPr/>
                    <a:lstStyle/>
                    <a:p>
                      <a:pPr algn="ctr"/>
                      <a:r>
                        <a:rPr lang="en-US" sz="2400" dirty="0"/>
                        <a:t>FTP-</a:t>
                      </a:r>
                      <a:r>
                        <a:rPr lang="en-US" sz="2400" dirty="0" err="1"/>
                        <a:t>BruteForce</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2,526</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0.025%</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3555843056"/>
                  </a:ext>
                </a:extLst>
              </a:tr>
              <a:tr h="546173">
                <a:tc>
                  <a:txBody>
                    <a:bodyPr/>
                    <a:lstStyle/>
                    <a:p>
                      <a:pPr algn="ctr"/>
                      <a:r>
                        <a:rPr lang="en-US" sz="2400" dirty="0"/>
                        <a:t>SSH-</a:t>
                      </a:r>
                      <a:r>
                        <a:rPr lang="en-US" sz="2400" dirty="0" err="1"/>
                        <a:t>Bruteforce</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5,442</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0.053%</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4187221284"/>
                  </a:ext>
                </a:extLst>
              </a:tr>
              <a:tr h="546173">
                <a:tc>
                  <a:txBody>
                    <a:bodyPr/>
                    <a:lstStyle/>
                    <a:p>
                      <a:pPr algn="ctr"/>
                      <a:r>
                        <a:rPr lang="en-US" sz="2400" dirty="0"/>
                        <a:t>DoS attacks-</a:t>
                      </a:r>
                      <a:r>
                        <a:rPr lang="en-US" sz="2400" dirty="0" err="1"/>
                        <a:t>SlowHTTPTest</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2,755</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0.027%</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996498947"/>
                  </a:ext>
                </a:extLst>
              </a:tr>
              <a:tr h="546173">
                <a:tc>
                  <a:txBody>
                    <a:bodyPr/>
                    <a:lstStyle/>
                    <a:p>
                      <a:pPr algn="ctr"/>
                      <a:r>
                        <a:rPr lang="en-US" sz="2400" dirty="0"/>
                        <a:t>DoS attacks-</a:t>
                      </a:r>
                      <a:r>
                        <a:rPr lang="en-US" sz="2400" dirty="0" err="1"/>
                        <a:t>Slowloris</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2,449</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0.024%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3620464127"/>
                  </a:ext>
                </a:extLst>
              </a:tr>
              <a:tr h="426369">
                <a:tc>
                  <a:txBody>
                    <a:bodyPr/>
                    <a:lstStyle/>
                    <a:p>
                      <a:pPr algn="ctr"/>
                      <a:r>
                        <a:rPr lang="en-US" sz="2400" dirty="0"/>
                        <a:t>DDOS attack-HOIC</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1,342</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0.01%</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318107202"/>
                  </a:ext>
                </a:extLst>
              </a:tr>
              <a:tr h="426369">
                <a:tc>
                  <a:txBody>
                    <a:bodyPr/>
                    <a:lstStyle/>
                    <a:p>
                      <a:pPr algn="ctr"/>
                      <a:r>
                        <a:rPr lang="en-US" sz="2400" dirty="0"/>
                        <a:t>DDOS attack-LOIC-UDP</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974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0.01%</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17693098"/>
                  </a:ext>
                </a:extLst>
              </a:tr>
              <a:tr h="426369">
                <a:tc>
                  <a:txBody>
                    <a:bodyPr/>
                    <a:lstStyle/>
                    <a:p>
                      <a:pPr algn="ctr"/>
                      <a:r>
                        <a:rPr lang="en-US" sz="2400" dirty="0"/>
                        <a:t>DoS attacks-</a:t>
                      </a:r>
                      <a:r>
                        <a:rPr lang="en-US" sz="2400" dirty="0" err="1"/>
                        <a:t>GoldenEye</a:t>
                      </a:r>
                      <a:endParaRPr lang="en-US" sz="2400" dirty="0"/>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647</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0.01%</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727942616"/>
                  </a:ext>
                </a:extLst>
              </a:tr>
              <a:tr h="546173">
                <a:tc>
                  <a:txBody>
                    <a:bodyPr/>
                    <a:lstStyle/>
                    <a:p>
                      <a:pPr algn="ctr"/>
                      <a:r>
                        <a:rPr lang="en-US" sz="2400" dirty="0"/>
                        <a:t>Brute Force -Web</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410</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0.004%</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1163576687"/>
                  </a:ext>
                </a:extLst>
              </a:tr>
              <a:tr h="767464">
                <a:tc>
                  <a:txBody>
                    <a:bodyPr/>
                    <a:lstStyle/>
                    <a:p>
                      <a:pPr algn="ctr"/>
                      <a:r>
                        <a:rPr lang="en-US" sz="2400" dirty="0"/>
                        <a:t>DoS attacks-Hulk</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198</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0.0019%</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201322160"/>
                  </a:ext>
                </a:extLst>
              </a:tr>
              <a:tr h="767464">
                <a:tc>
                  <a:txBody>
                    <a:bodyPr/>
                    <a:lstStyle/>
                    <a:p>
                      <a:pPr algn="ctr"/>
                      <a:r>
                        <a:rPr lang="en-US" sz="2400" dirty="0"/>
                        <a:t>Brute Force -XSS</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177</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0.0017%</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213755300"/>
                  </a:ext>
                </a:extLst>
              </a:tr>
              <a:tr h="767464">
                <a:tc>
                  <a:txBody>
                    <a:bodyPr/>
                    <a:lstStyle/>
                    <a:p>
                      <a:pPr algn="ctr"/>
                      <a:r>
                        <a:rPr lang="en-US" sz="2400" dirty="0"/>
                        <a:t>SQL Injection</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76</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tc>
                  <a:txBody>
                    <a:bodyPr/>
                    <a:lstStyle/>
                    <a:p>
                      <a:pPr algn="ctr"/>
                      <a:r>
                        <a:rPr lang="en-US" sz="2400" dirty="0"/>
                        <a:t>0.0007%</a:t>
                      </a:r>
                    </a:p>
                  </a:txBody>
                  <a:tcPr>
                    <a:cell3D prstMaterial="dkEdge">
                      <a:bevel prst="artDeco"/>
                      <a:lightRig rig="flood" dir="t"/>
                    </a:cell3D>
                    <a:gradFill>
                      <a:gsLst>
                        <a:gs pos="0">
                          <a:schemeClr val="bg1">
                            <a:alpha val="86000"/>
                          </a:schemeClr>
                        </a:gs>
                        <a:gs pos="99000">
                          <a:schemeClr val="accent6"/>
                        </a:gs>
                        <a:gs pos="100000">
                          <a:schemeClr val="bg1">
                            <a:lumMod val="50000"/>
                          </a:schemeClr>
                        </a:gs>
                        <a:gs pos="26000">
                          <a:schemeClr val="bg1"/>
                        </a:gs>
                        <a:gs pos="79000">
                          <a:schemeClr val="bg1"/>
                        </a:gs>
                      </a:gsLst>
                      <a:lin ang="5400000" scaled="1"/>
                    </a:gradFill>
                  </a:tcPr>
                </a:tc>
                <a:extLst>
                  <a:ext uri="{0D108BD9-81ED-4DB2-BD59-A6C34878D82A}">
                    <a16:rowId xmlns:a16="http://schemas.microsoft.com/office/drawing/2014/main" val="1469640286"/>
                  </a:ext>
                </a:extLst>
              </a:tr>
            </a:tbl>
          </a:graphicData>
        </a:graphic>
      </p:graphicFrame>
      <p:pic>
        <p:nvPicPr>
          <p:cNvPr id="10" name="Picture 9">
            <a:extLst>
              <a:ext uri="{FF2B5EF4-FFF2-40B4-BE49-F238E27FC236}">
                <a16:creationId xmlns:a16="http://schemas.microsoft.com/office/drawing/2014/main" id="{265C7D5A-1D22-B1E8-1A17-B69E53C22CE6}"/>
              </a:ext>
            </a:extLst>
          </p:cNvPr>
          <p:cNvPicPr>
            <a:picLocks noChangeAspect="1"/>
          </p:cNvPicPr>
          <p:nvPr/>
        </p:nvPicPr>
        <p:blipFill>
          <a:blip r:embed="rId7"/>
          <a:stretch>
            <a:fillRect/>
          </a:stretch>
        </p:blipFill>
        <p:spPr>
          <a:xfrm>
            <a:off x="12028173" y="17918723"/>
            <a:ext cx="5268264" cy="3609051"/>
          </a:xfrm>
          <a:prstGeom prst="rect">
            <a:avLst/>
          </a:prstGeom>
        </p:spPr>
      </p:pic>
      <p:pic>
        <p:nvPicPr>
          <p:cNvPr id="12" name="Picture 11">
            <a:extLst>
              <a:ext uri="{FF2B5EF4-FFF2-40B4-BE49-F238E27FC236}">
                <a16:creationId xmlns:a16="http://schemas.microsoft.com/office/drawing/2014/main" id="{1EFDCBCE-6729-91CA-821F-32105F310DFA}"/>
              </a:ext>
            </a:extLst>
          </p:cNvPr>
          <p:cNvPicPr>
            <a:picLocks noChangeAspect="1"/>
          </p:cNvPicPr>
          <p:nvPr/>
        </p:nvPicPr>
        <p:blipFill>
          <a:blip r:embed="rId8"/>
          <a:stretch>
            <a:fillRect/>
          </a:stretch>
        </p:blipFill>
        <p:spPr>
          <a:xfrm>
            <a:off x="17870470" y="18245498"/>
            <a:ext cx="2544027" cy="3203162"/>
          </a:xfrm>
          <a:prstGeom prst="rect">
            <a:avLst/>
          </a:prstGeom>
        </p:spPr>
      </p:pic>
      <p:sp>
        <p:nvSpPr>
          <p:cNvPr id="13" name="TextBox 12">
            <a:extLst>
              <a:ext uri="{FF2B5EF4-FFF2-40B4-BE49-F238E27FC236}">
                <a16:creationId xmlns:a16="http://schemas.microsoft.com/office/drawing/2014/main" id="{A9C8EBF0-2ED9-5572-76FD-21624D1942F7}"/>
              </a:ext>
            </a:extLst>
          </p:cNvPr>
          <p:cNvSpPr txBox="1"/>
          <p:nvPr/>
        </p:nvSpPr>
        <p:spPr>
          <a:xfrm>
            <a:off x="18578949" y="17766533"/>
            <a:ext cx="1194198" cy="400110"/>
          </a:xfrm>
          <a:prstGeom prst="rect">
            <a:avLst/>
          </a:prstGeom>
          <a:noFill/>
        </p:spPr>
        <p:txBody>
          <a:bodyPr wrap="square" rtlCol="0">
            <a:spAutoFit/>
          </a:bodyPr>
          <a:lstStyle/>
          <a:p>
            <a:r>
              <a:rPr lang="en-US" sz="2000" b="1" dirty="0">
                <a:latin typeface="Arial Nova" panose="020F0502020204030204" pitchFamily="34" charset="0"/>
              </a:rPr>
              <a:t>Dataset</a:t>
            </a:r>
          </a:p>
        </p:txBody>
      </p:sp>
      <p:pic>
        <p:nvPicPr>
          <p:cNvPr id="16" name="Picture 15" descr="A pie chart with numbers and a few percentages&#10;&#10;AI-generated content may be incorrect.">
            <a:extLst>
              <a:ext uri="{FF2B5EF4-FFF2-40B4-BE49-F238E27FC236}">
                <a16:creationId xmlns:a16="http://schemas.microsoft.com/office/drawing/2014/main" id="{322FF1AF-464C-590B-582D-C1A8F13F0D9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244685" y="9817533"/>
            <a:ext cx="4253553" cy="3112600"/>
          </a:xfrm>
          <a:prstGeom prst="rect">
            <a:avLst/>
          </a:prstGeom>
        </p:spPr>
      </p:pic>
      <p:sp>
        <p:nvSpPr>
          <p:cNvPr id="17" name="Arrow: Down 16">
            <a:extLst>
              <a:ext uri="{FF2B5EF4-FFF2-40B4-BE49-F238E27FC236}">
                <a16:creationId xmlns:a16="http://schemas.microsoft.com/office/drawing/2014/main" id="{DFCFF66C-0CCF-3336-17FB-BBB31F4AC132}"/>
              </a:ext>
            </a:extLst>
          </p:cNvPr>
          <p:cNvSpPr/>
          <p:nvPr/>
        </p:nvSpPr>
        <p:spPr bwMode="auto">
          <a:xfrm>
            <a:off x="15978915" y="12691807"/>
            <a:ext cx="823390" cy="799301"/>
          </a:xfrm>
          <a:prstGeom prst="downArrow">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i="0" u="none" strike="noStrike" normalizeH="0" baseline="0">
              <a:ln w="0"/>
              <a:effectLst>
                <a:outerShdw blurRad="38100" dist="19050" dir="2700000" algn="tl" rotWithShape="0">
                  <a:schemeClr val="dk1">
                    <a:alpha val="40000"/>
                  </a:schemeClr>
                </a:outerShdw>
              </a:effectLst>
              <a:latin typeface="Arial" charset="0"/>
            </a:endParaRPr>
          </a:p>
        </p:txBody>
      </p:sp>
      <p:sp>
        <p:nvSpPr>
          <p:cNvPr id="18" name="TextBox 17">
            <a:extLst>
              <a:ext uri="{FF2B5EF4-FFF2-40B4-BE49-F238E27FC236}">
                <a16:creationId xmlns:a16="http://schemas.microsoft.com/office/drawing/2014/main" id="{F9886057-5298-CDA0-6540-417975F96CBC}"/>
              </a:ext>
            </a:extLst>
          </p:cNvPr>
          <p:cNvSpPr txBox="1"/>
          <p:nvPr/>
        </p:nvSpPr>
        <p:spPr>
          <a:xfrm>
            <a:off x="17221200" y="8655031"/>
            <a:ext cx="4364888" cy="954107"/>
          </a:xfrm>
          <a:prstGeom prst="rect">
            <a:avLst/>
          </a:prstGeom>
          <a:noFill/>
        </p:spPr>
        <p:txBody>
          <a:bodyPr wrap="square" rtlCol="0">
            <a:spAutoFit/>
          </a:bodyPr>
          <a:lstStyle/>
          <a:p>
            <a:r>
              <a:rPr lang="en-US" sz="2800" dirty="0"/>
              <a:t>70/30 Train/Test </a:t>
            </a:r>
            <a:r>
              <a:rPr lang="en-US" sz="2800" dirty="0" err="1"/>
              <a:t>Statified</a:t>
            </a:r>
            <a:r>
              <a:rPr lang="en-US" sz="2800" dirty="0"/>
              <a:t> Split by time window</a:t>
            </a:r>
          </a:p>
        </p:txBody>
      </p:sp>
      <p:pic>
        <p:nvPicPr>
          <p:cNvPr id="22" name="Picture 21" descr="A screenshot of a graph&#10;&#10;AI-generated content may be incorrect.">
            <a:extLst>
              <a:ext uri="{FF2B5EF4-FFF2-40B4-BE49-F238E27FC236}">
                <a16:creationId xmlns:a16="http://schemas.microsoft.com/office/drawing/2014/main" id="{1B10AA80-45DB-91C0-5CD0-51707AF3B7AD}"/>
              </a:ext>
            </a:extLst>
          </p:cNvPr>
          <p:cNvPicPr>
            <a:picLocks noChangeAspect="1"/>
          </p:cNvPicPr>
          <p:nvPr/>
        </p:nvPicPr>
        <p:blipFill>
          <a:blip r:embed="rId10">
            <a:extLst>
              <a:ext uri="{28A0092B-C50C-407E-A947-70E740481C1C}">
                <a14:useLocalDpi xmlns:a14="http://schemas.microsoft.com/office/drawing/2010/main" val="0"/>
              </a:ext>
            </a:extLst>
          </a:blip>
          <a:srcRect l="50144" t="1600" r="5411" b="-1600"/>
          <a:stretch>
            <a:fillRect/>
          </a:stretch>
        </p:blipFill>
        <p:spPr>
          <a:xfrm>
            <a:off x="11551574" y="27653522"/>
            <a:ext cx="4876800" cy="4572009"/>
          </a:xfrm>
          <a:prstGeom prst="rect">
            <a:avLst/>
          </a:prstGeom>
        </p:spPr>
      </p:pic>
      <p:sp>
        <p:nvSpPr>
          <p:cNvPr id="26" name="Arrow: Down 25">
            <a:extLst>
              <a:ext uri="{FF2B5EF4-FFF2-40B4-BE49-F238E27FC236}">
                <a16:creationId xmlns:a16="http://schemas.microsoft.com/office/drawing/2014/main" id="{2618EBF4-3620-21AF-A531-567C942F5BA7}"/>
              </a:ext>
            </a:extLst>
          </p:cNvPr>
          <p:cNvSpPr/>
          <p:nvPr/>
        </p:nvSpPr>
        <p:spPr bwMode="auto">
          <a:xfrm>
            <a:off x="15949290" y="17119422"/>
            <a:ext cx="823390" cy="799301"/>
          </a:xfrm>
          <a:prstGeom prst="downArrow">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i="0" u="none" strike="noStrike" normalizeH="0" baseline="0">
              <a:ln w="0"/>
              <a:effectLst>
                <a:outerShdw blurRad="38100" dist="19050" dir="2700000" algn="tl" rotWithShape="0">
                  <a:schemeClr val="dk1">
                    <a:alpha val="40000"/>
                  </a:schemeClr>
                </a:outerShdw>
              </a:effectLst>
              <a:latin typeface="Arial" charset="0"/>
            </a:endParaRPr>
          </a:p>
        </p:txBody>
      </p:sp>
      <p:sp>
        <p:nvSpPr>
          <p:cNvPr id="27" name="Arrow: Down 26">
            <a:extLst>
              <a:ext uri="{FF2B5EF4-FFF2-40B4-BE49-F238E27FC236}">
                <a16:creationId xmlns:a16="http://schemas.microsoft.com/office/drawing/2014/main" id="{9C019E0B-2754-1F0D-9491-56B4BEF20AD1}"/>
              </a:ext>
            </a:extLst>
          </p:cNvPr>
          <p:cNvSpPr/>
          <p:nvPr/>
        </p:nvSpPr>
        <p:spPr bwMode="auto">
          <a:xfrm rot="16200000">
            <a:off x="16283715" y="10467115"/>
            <a:ext cx="823390" cy="799301"/>
          </a:xfrm>
          <a:prstGeom prst="downArrow">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i="0" u="none" strike="noStrike" normalizeH="0" baseline="0">
              <a:ln w="0"/>
              <a:effectLst>
                <a:outerShdw blurRad="38100" dist="19050" dir="2700000" algn="tl" rotWithShape="0">
                  <a:schemeClr val="dk1">
                    <a:alpha val="40000"/>
                  </a:schemeClr>
                </a:outerShdw>
              </a:effectLst>
              <a:latin typeface="Arial" charset="0"/>
            </a:endParaRPr>
          </a:p>
        </p:txBody>
      </p:sp>
      <p:sp>
        <p:nvSpPr>
          <p:cNvPr id="28" name="Arrow: Down 27">
            <a:extLst>
              <a:ext uri="{FF2B5EF4-FFF2-40B4-BE49-F238E27FC236}">
                <a16:creationId xmlns:a16="http://schemas.microsoft.com/office/drawing/2014/main" id="{ACCFCA9F-E5DA-06C4-CEE5-5E2D459CA658}"/>
              </a:ext>
            </a:extLst>
          </p:cNvPr>
          <p:cNvSpPr/>
          <p:nvPr/>
        </p:nvSpPr>
        <p:spPr bwMode="auto">
          <a:xfrm>
            <a:off x="15949290" y="21482623"/>
            <a:ext cx="823390" cy="799301"/>
          </a:xfrm>
          <a:prstGeom prst="downArrow">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i="0" u="none" strike="noStrike" normalizeH="0" baseline="0">
              <a:ln w="0"/>
              <a:effectLst>
                <a:outerShdw blurRad="38100" dist="19050" dir="2700000" algn="tl" rotWithShape="0">
                  <a:schemeClr val="dk1">
                    <a:alpha val="40000"/>
                  </a:schemeClr>
                </a:outerShdw>
              </a:effectLst>
              <a:latin typeface="Arial" charset="0"/>
            </a:endParaRPr>
          </a:p>
        </p:txBody>
      </p:sp>
      <p:sp>
        <p:nvSpPr>
          <p:cNvPr id="29" name="TextBox 28">
            <a:extLst>
              <a:ext uri="{FF2B5EF4-FFF2-40B4-BE49-F238E27FC236}">
                <a16:creationId xmlns:a16="http://schemas.microsoft.com/office/drawing/2014/main" id="{6C987525-8481-6657-522B-90D2245438CE}"/>
              </a:ext>
            </a:extLst>
          </p:cNvPr>
          <p:cNvSpPr txBox="1"/>
          <p:nvPr/>
        </p:nvSpPr>
        <p:spPr>
          <a:xfrm>
            <a:off x="13132717" y="22281924"/>
            <a:ext cx="6820586" cy="523220"/>
          </a:xfrm>
          <a:prstGeom prst="rect">
            <a:avLst/>
          </a:prstGeom>
          <a:noFill/>
        </p:spPr>
        <p:txBody>
          <a:bodyPr wrap="square" rtlCol="0">
            <a:spAutoFit/>
          </a:bodyPr>
          <a:lstStyle/>
          <a:p>
            <a:pPr algn="ctr"/>
            <a:r>
              <a:rPr lang="en-US" sz="2800" dirty="0"/>
              <a:t>Quantum and Classical Feature Selection</a:t>
            </a:r>
          </a:p>
        </p:txBody>
      </p:sp>
      <p:sp>
        <p:nvSpPr>
          <p:cNvPr id="32" name="Arrow: Down 31">
            <a:extLst>
              <a:ext uri="{FF2B5EF4-FFF2-40B4-BE49-F238E27FC236}">
                <a16:creationId xmlns:a16="http://schemas.microsoft.com/office/drawing/2014/main" id="{B8DF98F5-B15B-5BEB-1660-3554D7760E43}"/>
              </a:ext>
            </a:extLst>
          </p:cNvPr>
          <p:cNvSpPr/>
          <p:nvPr/>
        </p:nvSpPr>
        <p:spPr bwMode="auto">
          <a:xfrm>
            <a:off x="15978915" y="26445295"/>
            <a:ext cx="823390" cy="799301"/>
          </a:xfrm>
          <a:prstGeom prst="downArrow">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i="0" u="none" strike="noStrike" normalizeH="0" baseline="0">
              <a:ln w="0"/>
              <a:effectLst>
                <a:outerShdw blurRad="38100" dist="19050" dir="2700000" algn="tl" rotWithShape="0">
                  <a:schemeClr val="dk1">
                    <a:alpha val="40000"/>
                  </a:schemeClr>
                </a:outerShdw>
              </a:effectLst>
              <a:latin typeface="Arial" charset="0"/>
            </a:endParaRPr>
          </a:p>
        </p:txBody>
      </p:sp>
      <p:sp>
        <p:nvSpPr>
          <p:cNvPr id="33" name="TextBox 32">
            <a:extLst>
              <a:ext uri="{FF2B5EF4-FFF2-40B4-BE49-F238E27FC236}">
                <a16:creationId xmlns:a16="http://schemas.microsoft.com/office/drawing/2014/main" id="{663BFFE1-C9C0-27A1-1384-886D203A66C3}"/>
              </a:ext>
            </a:extLst>
          </p:cNvPr>
          <p:cNvSpPr txBox="1"/>
          <p:nvPr/>
        </p:nvSpPr>
        <p:spPr>
          <a:xfrm>
            <a:off x="11520749" y="27483175"/>
            <a:ext cx="9815251" cy="523220"/>
          </a:xfrm>
          <a:prstGeom prst="rect">
            <a:avLst/>
          </a:prstGeom>
          <a:noFill/>
        </p:spPr>
        <p:txBody>
          <a:bodyPr wrap="square" rtlCol="0">
            <a:spAutoFit/>
          </a:bodyPr>
          <a:lstStyle/>
          <a:p>
            <a:pPr algn="ctr"/>
            <a:r>
              <a:rPr lang="en-US" sz="2800" dirty="0"/>
              <a:t>Compare Methods: Logistic Regression and Random Forest </a:t>
            </a:r>
          </a:p>
        </p:txBody>
      </p:sp>
      <p:pic>
        <p:nvPicPr>
          <p:cNvPr id="35" name="Picture 34">
            <a:extLst>
              <a:ext uri="{FF2B5EF4-FFF2-40B4-BE49-F238E27FC236}">
                <a16:creationId xmlns:a16="http://schemas.microsoft.com/office/drawing/2014/main" id="{D3479994-F88C-9183-B174-953F1616909F}"/>
              </a:ext>
            </a:extLst>
          </p:cNvPr>
          <p:cNvPicPr>
            <a:picLocks noChangeAspect="1"/>
          </p:cNvPicPr>
          <p:nvPr/>
        </p:nvPicPr>
        <p:blipFill>
          <a:blip r:embed="rId11"/>
          <a:stretch>
            <a:fillRect/>
          </a:stretch>
        </p:blipFill>
        <p:spPr>
          <a:xfrm>
            <a:off x="16751248" y="28006395"/>
            <a:ext cx="4591691" cy="4124901"/>
          </a:xfrm>
          <a:prstGeom prst="rect">
            <a:avLst/>
          </a:prstGeom>
        </p:spPr>
      </p:pic>
      <p:pic>
        <p:nvPicPr>
          <p:cNvPr id="197" name="Picture 196" descr="A blue and yellow logo&#10;&#10;AI-generated content may be incorrect.">
            <a:extLst>
              <a:ext uri="{FF2B5EF4-FFF2-40B4-BE49-F238E27FC236}">
                <a16:creationId xmlns:a16="http://schemas.microsoft.com/office/drawing/2014/main" id="{3E09E4D4-FBE0-50C0-ECA5-4DA0A65C0A7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1001592" y="30427455"/>
            <a:ext cx="2212779" cy="1703839"/>
          </a:xfrm>
          <a:prstGeom prst="rect">
            <a:avLst/>
          </a:prstGeom>
        </p:spPr>
      </p:pic>
      <p:pic>
        <p:nvPicPr>
          <p:cNvPr id="199" name="Picture 198" descr="A blue circle with white text&#10;&#10;AI-generated content may be incorrect.">
            <a:extLst>
              <a:ext uri="{FF2B5EF4-FFF2-40B4-BE49-F238E27FC236}">
                <a16:creationId xmlns:a16="http://schemas.microsoft.com/office/drawing/2014/main" id="{EBFD3492-0928-D5C5-73D0-0A149C92ABC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9547800" y="30702216"/>
            <a:ext cx="1453793" cy="1453793"/>
          </a:xfrm>
          <a:prstGeom prst="rect">
            <a:avLst/>
          </a:prstGeom>
        </p:spPr>
      </p:pic>
      <p:pic>
        <p:nvPicPr>
          <p:cNvPr id="201" name="Graphic 200" descr="Badge 1 with solid fill">
            <a:extLst>
              <a:ext uri="{FF2B5EF4-FFF2-40B4-BE49-F238E27FC236}">
                <a16:creationId xmlns:a16="http://schemas.microsoft.com/office/drawing/2014/main" id="{8FABF6EB-772D-F694-32E6-6C521A5C56A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520749" y="8446922"/>
            <a:ext cx="914400" cy="914400"/>
          </a:xfrm>
          <a:prstGeom prst="rect">
            <a:avLst/>
          </a:prstGeom>
        </p:spPr>
      </p:pic>
      <p:pic>
        <p:nvPicPr>
          <p:cNvPr id="203" name="Graphic 202" descr="Badge with solid fill">
            <a:extLst>
              <a:ext uri="{FF2B5EF4-FFF2-40B4-BE49-F238E27FC236}">
                <a16:creationId xmlns:a16="http://schemas.microsoft.com/office/drawing/2014/main" id="{97A08915-2B43-02BB-0AB7-B43ECCAFAF1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271758" y="8445017"/>
            <a:ext cx="914400" cy="914400"/>
          </a:xfrm>
          <a:prstGeom prst="rect">
            <a:avLst/>
          </a:prstGeom>
        </p:spPr>
      </p:pic>
      <p:pic>
        <p:nvPicPr>
          <p:cNvPr id="205" name="Graphic 204" descr="Badge 3 with solid fill">
            <a:extLst>
              <a:ext uri="{FF2B5EF4-FFF2-40B4-BE49-F238E27FC236}">
                <a16:creationId xmlns:a16="http://schemas.microsoft.com/office/drawing/2014/main" id="{7EA75591-92DA-8DEC-17AB-5C9E6150B75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520749" y="13099316"/>
            <a:ext cx="914400" cy="914400"/>
          </a:xfrm>
          <a:prstGeom prst="rect">
            <a:avLst/>
          </a:prstGeom>
        </p:spPr>
      </p:pic>
      <p:pic>
        <p:nvPicPr>
          <p:cNvPr id="207" name="Graphic 206" descr="Badge 4 with solid fill">
            <a:extLst>
              <a:ext uri="{FF2B5EF4-FFF2-40B4-BE49-F238E27FC236}">
                <a16:creationId xmlns:a16="http://schemas.microsoft.com/office/drawing/2014/main" id="{8C4AF8C3-D66F-EB1F-6F3A-D0874A69FF0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520749" y="17747543"/>
            <a:ext cx="914400" cy="914400"/>
          </a:xfrm>
          <a:prstGeom prst="rect">
            <a:avLst/>
          </a:prstGeom>
        </p:spPr>
      </p:pic>
      <p:pic>
        <p:nvPicPr>
          <p:cNvPr id="209" name="Graphic 208" descr="Badge 5 with solid fill">
            <a:extLst>
              <a:ext uri="{FF2B5EF4-FFF2-40B4-BE49-F238E27FC236}">
                <a16:creationId xmlns:a16="http://schemas.microsoft.com/office/drawing/2014/main" id="{4EF20DE7-7848-BBE4-ABA9-C148247D6B8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520749" y="21882273"/>
            <a:ext cx="914400" cy="914400"/>
          </a:xfrm>
          <a:prstGeom prst="rect">
            <a:avLst/>
          </a:prstGeom>
        </p:spPr>
      </p:pic>
      <p:pic>
        <p:nvPicPr>
          <p:cNvPr id="211" name="Graphic 210" descr="Badge 6 with solid fill">
            <a:extLst>
              <a:ext uri="{FF2B5EF4-FFF2-40B4-BE49-F238E27FC236}">
                <a16:creationId xmlns:a16="http://schemas.microsoft.com/office/drawing/2014/main" id="{49EDED06-B736-276D-6840-457F38EDAA6D}"/>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520749" y="26681186"/>
            <a:ext cx="914400" cy="914400"/>
          </a:xfrm>
          <a:prstGeom prst="rect">
            <a:avLst/>
          </a:prstGeom>
        </p:spPr>
      </p:pic>
      <p:sp>
        <p:nvSpPr>
          <p:cNvPr id="216" name="TextBox 215">
            <a:extLst>
              <a:ext uri="{FF2B5EF4-FFF2-40B4-BE49-F238E27FC236}">
                <a16:creationId xmlns:a16="http://schemas.microsoft.com/office/drawing/2014/main" id="{E98F8B3C-1298-7538-0FFF-7AC88702B3FB}"/>
              </a:ext>
            </a:extLst>
          </p:cNvPr>
          <p:cNvSpPr txBox="1"/>
          <p:nvPr/>
        </p:nvSpPr>
        <p:spPr>
          <a:xfrm>
            <a:off x="2459" y="4293432"/>
            <a:ext cx="16540830" cy="341632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By: </a:t>
            </a:r>
          </a:p>
          <a:p>
            <a:pPr algn="ct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Tom Steinman (University of Missouri-Kansas City)</a:t>
            </a:r>
          </a:p>
          <a:p>
            <a:pPr algn="ctr"/>
            <a:r>
              <a:rPr lang="en-US" sz="5400" b="1" dirty="0" err="1">
                <a:solidFill>
                  <a:schemeClr val="bg1"/>
                </a:solidFill>
                <a:effectLst>
                  <a:outerShdw blurRad="38100" dist="38100" dir="2700000" algn="tl">
                    <a:srgbClr val="000000">
                      <a:alpha val="43137"/>
                    </a:srgbClr>
                  </a:outerShdw>
                </a:effectLst>
                <a:latin typeface="Titillium Web" panose="00000500000000000000" pitchFamily="2" charset="0"/>
              </a:rPr>
              <a:t>Indraraj</a:t>
            </a:r>
            <a:r>
              <a:rPr lang="en-US" sz="5400" b="1" dirty="0">
                <a:solidFill>
                  <a:schemeClr val="bg1"/>
                </a:solidFill>
                <a:effectLst>
                  <a:outerShdw blurRad="38100" dist="38100" dir="2700000" algn="tl">
                    <a:srgbClr val="000000">
                      <a:alpha val="43137"/>
                    </a:srgbClr>
                  </a:outerShdw>
                </a:effectLst>
                <a:latin typeface="Titillium Web" panose="00000500000000000000" pitchFamily="2" charset="0"/>
              </a:rPr>
              <a:t> Biswas (University of Missouri-Kansas City)</a:t>
            </a:r>
          </a:p>
          <a:p>
            <a:endParaRPr lang="en-US" sz="5400" dirty="0"/>
          </a:p>
        </p:txBody>
      </p:sp>
      <p:sp>
        <p:nvSpPr>
          <p:cNvPr id="2" name="TextBox 1">
            <a:extLst>
              <a:ext uri="{FF2B5EF4-FFF2-40B4-BE49-F238E27FC236}">
                <a16:creationId xmlns:a16="http://schemas.microsoft.com/office/drawing/2014/main" id="{1F586B43-C2B4-05FB-30B8-D9FBF9722199}"/>
              </a:ext>
            </a:extLst>
          </p:cNvPr>
          <p:cNvSpPr txBox="1"/>
          <p:nvPr/>
        </p:nvSpPr>
        <p:spPr>
          <a:xfrm>
            <a:off x="851396" y="27246174"/>
            <a:ext cx="9601200" cy="4893647"/>
          </a:xfrm>
          <a:prstGeom prst="rect">
            <a:avLst/>
          </a:prstGeom>
          <a:noFill/>
        </p:spPr>
        <p:txBody>
          <a:bodyPr wrap="square" rtlCol="0">
            <a:spAutoFit/>
          </a:bodyPr>
          <a:lstStyle/>
          <a:p>
            <a:r>
              <a:rPr lang="en-US" sz="2400" b="1" u="sng" dirty="0"/>
              <a:t>Knowledge Graph</a:t>
            </a:r>
          </a:p>
          <a:p>
            <a:pPr marL="342900" indent="-342900">
              <a:buFont typeface="Arial" panose="020B0604020202020204" pitchFamily="34" charset="0"/>
              <a:buChar char="•"/>
            </a:pPr>
            <a:r>
              <a:rPr lang="en-US" sz="2400" dirty="0"/>
              <a:t>KG build: For each 5-minute window, make a </a:t>
            </a:r>
            <a:r>
              <a:rPr lang="en-US" sz="2400" dirty="0" err="1"/>
              <a:t>Host↔Service</a:t>
            </a:r>
            <a:r>
              <a:rPr lang="en-US" sz="2400" dirty="0"/>
              <a:t> graph and keep a short rolling history. Also add </a:t>
            </a:r>
            <a:r>
              <a:rPr lang="en-US" sz="2400" dirty="0" err="1"/>
              <a:t>Host↔Host</a:t>
            </a:r>
            <a:r>
              <a:rPr lang="en-US" sz="2400" dirty="0"/>
              <a:t> links when two hosts use the same service (H→S→H).</a:t>
            </a:r>
          </a:p>
          <a:p>
            <a:pPr marL="342900" indent="-342900">
              <a:buFont typeface="Arial" panose="020B0604020202020204" pitchFamily="34" charset="0"/>
              <a:buChar char="•"/>
            </a:pPr>
            <a:r>
              <a:rPr lang="en-US" sz="2400" dirty="0"/>
              <a:t>KG features: Popularity (degree), rarity (IDF), host–service association (PMI), time spikes (burstiness), and simple </a:t>
            </a:r>
            <a:r>
              <a:rPr lang="en-US" sz="2400" dirty="0" err="1"/>
              <a:t>metapath</a:t>
            </a:r>
            <a:r>
              <a:rPr lang="en-US" sz="2400" dirty="0"/>
              <a:t> counts over time. This data is appended to the dataset.</a:t>
            </a:r>
          </a:p>
          <a:p>
            <a:r>
              <a:rPr lang="en-US" sz="2400" b="1" u="sng" dirty="0"/>
              <a:t>Quantum Feature Selection</a:t>
            </a:r>
          </a:p>
          <a:p>
            <a:pPr marL="342900" indent="-342900">
              <a:buFont typeface="Arial" panose="020B0604020202020204" pitchFamily="34" charset="0"/>
              <a:buChar char="•"/>
            </a:pPr>
            <a:r>
              <a:rPr lang="en-US" sz="2400" dirty="0"/>
              <a:t>Quantum search (QUBO → QAOA): the circuit tries different combinations of features, keeping the ones that give the best score (lowest “energy”).  </a:t>
            </a:r>
          </a:p>
          <a:p>
            <a:pPr marL="342900" indent="-342900">
              <a:buFont typeface="Arial" panose="020B0604020202020204" pitchFamily="34" charset="0"/>
              <a:buChar char="•"/>
            </a:pPr>
            <a:r>
              <a:rPr lang="en-US" sz="2400" dirty="0"/>
              <a:t>Noise mitigation: we use error-reduction steps to reduce noise (twirling, XY4).</a:t>
            </a:r>
          </a:p>
        </p:txBody>
      </p:sp>
      <p:pic>
        <p:nvPicPr>
          <p:cNvPr id="21" name="Picture 20" descr="A chart with many colored squares&#10;&#10;AI-generated content may be incorrect.">
            <a:extLst>
              <a:ext uri="{FF2B5EF4-FFF2-40B4-BE49-F238E27FC236}">
                <a16:creationId xmlns:a16="http://schemas.microsoft.com/office/drawing/2014/main" id="{F3593FA2-A9CE-DD5D-C560-C4243B5FE015}"/>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2682971" y="15523266"/>
            <a:ext cx="4398219" cy="3417535"/>
          </a:xfrm>
          <a:prstGeom prst="rect">
            <a:avLst/>
          </a:prstGeom>
        </p:spPr>
      </p:pic>
      <p:pic>
        <p:nvPicPr>
          <p:cNvPr id="24" name="Picture 23" descr="A screenshot of a computer screen&#10;&#10;AI-generated content may be incorrect.">
            <a:extLst>
              <a:ext uri="{FF2B5EF4-FFF2-40B4-BE49-F238E27FC236}">
                <a16:creationId xmlns:a16="http://schemas.microsoft.com/office/drawing/2014/main" id="{85A6305E-FEA3-2CEE-1A9B-D61C1933619C}"/>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7706433" y="15523266"/>
            <a:ext cx="4398218" cy="3417535"/>
          </a:xfrm>
          <a:prstGeom prst="rect">
            <a:avLst/>
          </a:prstGeom>
        </p:spPr>
      </p:pic>
      <p:sp>
        <p:nvSpPr>
          <p:cNvPr id="30" name="TextBox 29">
            <a:extLst>
              <a:ext uri="{FF2B5EF4-FFF2-40B4-BE49-F238E27FC236}">
                <a16:creationId xmlns:a16="http://schemas.microsoft.com/office/drawing/2014/main" id="{DD12C08F-FAC0-A4DD-84DF-7CF34B7F7650}"/>
              </a:ext>
            </a:extLst>
          </p:cNvPr>
          <p:cNvSpPr txBox="1"/>
          <p:nvPr/>
        </p:nvSpPr>
        <p:spPr>
          <a:xfrm>
            <a:off x="22958934" y="14655641"/>
            <a:ext cx="9601200" cy="830997"/>
          </a:xfrm>
          <a:prstGeom prst="rect">
            <a:avLst/>
          </a:prstGeom>
          <a:noFill/>
        </p:spPr>
        <p:txBody>
          <a:bodyPr wrap="square" rtlCol="0">
            <a:spAutoFit/>
          </a:bodyPr>
          <a:lstStyle/>
          <a:p>
            <a:pPr algn="ctr"/>
            <a:r>
              <a:rPr lang="en-US" sz="2400" u="sng" dirty="0"/>
              <a:t>Logistic regression without KG features</a:t>
            </a:r>
            <a:r>
              <a:rPr lang="en-US" sz="2400" dirty="0"/>
              <a:t>: </a:t>
            </a:r>
          </a:p>
          <a:p>
            <a:r>
              <a:rPr lang="en-US" sz="2400" dirty="0"/>
              <a:t>             Quantum Features          vs               Classical Features</a:t>
            </a:r>
          </a:p>
        </p:txBody>
      </p:sp>
      <p:pic>
        <p:nvPicPr>
          <p:cNvPr id="37" name="Picture 36" descr="A screenshot of a graph&#10;&#10;AI-generated content may be incorrect.">
            <a:extLst>
              <a:ext uri="{FF2B5EF4-FFF2-40B4-BE49-F238E27FC236}">
                <a16:creationId xmlns:a16="http://schemas.microsoft.com/office/drawing/2014/main" id="{9FF0213B-5B95-A73C-27A1-919F6FFD9F5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2556552" y="19528223"/>
            <a:ext cx="4737250" cy="3680971"/>
          </a:xfrm>
          <a:prstGeom prst="rect">
            <a:avLst/>
          </a:prstGeom>
        </p:spPr>
      </p:pic>
      <p:pic>
        <p:nvPicPr>
          <p:cNvPr id="42" name="Picture 41" descr="A screenshot of a computer screen&#10;&#10;AI-generated content may be incorrect.">
            <a:extLst>
              <a:ext uri="{FF2B5EF4-FFF2-40B4-BE49-F238E27FC236}">
                <a16:creationId xmlns:a16="http://schemas.microsoft.com/office/drawing/2014/main" id="{54E3020D-374B-CEE3-EF41-CA2AAD37F741}"/>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463060" y="19532371"/>
            <a:ext cx="4737250" cy="3680971"/>
          </a:xfrm>
          <a:prstGeom prst="rect">
            <a:avLst/>
          </a:prstGeom>
        </p:spPr>
      </p:pic>
      <p:sp>
        <p:nvSpPr>
          <p:cNvPr id="46" name="TextBox 45">
            <a:extLst>
              <a:ext uri="{FF2B5EF4-FFF2-40B4-BE49-F238E27FC236}">
                <a16:creationId xmlns:a16="http://schemas.microsoft.com/office/drawing/2014/main" id="{05F2BA3B-8AF6-2891-E6D3-4A2CE40113BA}"/>
              </a:ext>
            </a:extLst>
          </p:cNvPr>
          <p:cNvSpPr txBox="1"/>
          <p:nvPr/>
        </p:nvSpPr>
        <p:spPr>
          <a:xfrm>
            <a:off x="22658831" y="18768170"/>
            <a:ext cx="9601200" cy="830997"/>
          </a:xfrm>
          <a:prstGeom prst="rect">
            <a:avLst/>
          </a:prstGeom>
          <a:noFill/>
        </p:spPr>
        <p:txBody>
          <a:bodyPr wrap="square" rtlCol="0">
            <a:spAutoFit/>
          </a:bodyPr>
          <a:lstStyle/>
          <a:p>
            <a:pPr algn="ctr"/>
            <a:r>
              <a:rPr lang="en-US" sz="2400" u="sng" dirty="0"/>
              <a:t>Random Forest without KG features</a:t>
            </a:r>
            <a:r>
              <a:rPr lang="en-US" sz="2400" dirty="0"/>
              <a:t>: </a:t>
            </a:r>
          </a:p>
          <a:p>
            <a:r>
              <a:rPr lang="en-US" sz="2400" dirty="0"/>
              <a:t>               Quantum Features          vs                Classical Features</a:t>
            </a:r>
          </a:p>
        </p:txBody>
      </p:sp>
      <p:sp>
        <p:nvSpPr>
          <p:cNvPr id="196" name="TextBox 195">
            <a:extLst>
              <a:ext uri="{FF2B5EF4-FFF2-40B4-BE49-F238E27FC236}">
                <a16:creationId xmlns:a16="http://schemas.microsoft.com/office/drawing/2014/main" id="{21821E24-A214-CBBC-FE22-0D8927B04344}"/>
              </a:ext>
            </a:extLst>
          </p:cNvPr>
          <p:cNvSpPr txBox="1"/>
          <p:nvPr/>
        </p:nvSpPr>
        <p:spPr>
          <a:xfrm>
            <a:off x="22671189" y="23210307"/>
            <a:ext cx="9601200" cy="830997"/>
          </a:xfrm>
          <a:prstGeom prst="rect">
            <a:avLst/>
          </a:prstGeom>
          <a:noFill/>
        </p:spPr>
        <p:txBody>
          <a:bodyPr wrap="square" rtlCol="0">
            <a:spAutoFit/>
          </a:bodyPr>
          <a:lstStyle/>
          <a:p>
            <a:pPr algn="ctr"/>
            <a:r>
              <a:rPr lang="en-US" sz="2400" u="sng" dirty="0"/>
              <a:t>Logistic Regression with KG features</a:t>
            </a:r>
            <a:r>
              <a:rPr lang="en-US" sz="2400" dirty="0"/>
              <a:t>: </a:t>
            </a:r>
          </a:p>
          <a:p>
            <a:r>
              <a:rPr lang="en-US" sz="2400" dirty="0"/>
              <a:t>               Quantum Features          vs                Classical Features</a:t>
            </a:r>
          </a:p>
        </p:txBody>
      </p:sp>
      <p:sp>
        <p:nvSpPr>
          <p:cNvPr id="228" name="Rectangle 227">
            <a:extLst>
              <a:ext uri="{FF2B5EF4-FFF2-40B4-BE49-F238E27FC236}">
                <a16:creationId xmlns:a16="http://schemas.microsoft.com/office/drawing/2014/main" id="{F16E0CD8-97AE-B8CA-64F2-9091A42E4217}"/>
              </a:ext>
            </a:extLst>
          </p:cNvPr>
          <p:cNvSpPr/>
          <p:nvPr/>
        </p:nvSpPr>
        <p:spPr bwMode="auto">
          <a:xfrm>
            <a:off x="22314074" y="27723388"/>
            <a:ext cx="10028207" cy="4471041"/>
          </a:xfrm>
          <a:prstGeom prst="rect">
            <a:avLst/>
          </a:prstGeom>
          <a:solidFill>
            <a:schemeClr val="bg1"/>
          </a:solidFill>
          <a:ln w="69850" cap="flat" cmpd="sng" algn="ctr">
            <a:solidFill>
              <a:schemeClr val="accent6">
                <a:lumMod val="50000"/>
              </a:schemeClr>
            </a:solidFill>
            <a:prstDash val="solid"/>
            <a:round/>
            <a:headEnd type="none" w="med" len="med"/>
            <a:tailEnd type="none" w="med" len="med"/>
          </a:ln>
          <a:effectLst>
            <a:softEdge rad="0"/>
          </a:effectLst>
        </p:spPr>
        <p:txBody>
          <a:bodyPr vert="horz" wrap="square" lIns="91440" tIns="45720" rIns="91440" bIns="45720" numCol="1" rtlCol="0" anchor="t" anchorCtr="0" compatLnSpc="1">
            <a:prstTxWarp prst="textNoShape">
              <a:avLst/>
            </a:prstTxWarp>
          </a:bodyPr>
          <a:lstStyle/>
          <a:p>
            <a:pPr marL="0" marR="0" indent="0" algn="l" defTabSz="4703763" rtl="0" eaLnBrk="1" fontAlgn="base" latinLnBrk="0" hangingPunct="1">
              <a:lnSpc>
                <a:spcPct val="100000"/>
              </a:lnSpc>
              <a:spcBef>
                <a:spcPct val="0"/>
              </a:spcBef>
              <a:spcAft>
                <a:spcPct val="0"/>
              </a:spcAft>
              <a:buClrTx/>
              <a:buSzTx/>
              <a:buFontTx/>
              <a:buNone/>
              <a:tabLst/>
            </a:pPr>
            <a:endParaRPr kumimoji="0" lang="en-US" sz="3800" b="0" i="0" u="none" strike="noStrike" cap="none" normalizeH="0" baseline="0">
              <a:ln>
                <a:noFill/>
              </a:ln>
              <a:solidFill>
                <a:schemeClr val="tx1"/>
              </a:solidFill>
              <a:effectLst/>
              <a:latin typeface="Arial" charset="0"/>
            </a:endParaRPr>
          </a:p>
        </p:txBody>
      </p:sp>
      <p:sp>
        <p:nvSpPr>
          <p:cNvPr id="212" name="TextBox 211">
            <a:extLst>
              <a:ext uri="{FF2B5EF4-FFF2-40B4-BE49-F238E27FC236}">
                <a16:creationId xmlns:a16="http://schemas.microsoft.com/office/drawing/2014/main" id="{0FBE520C-2CF3-6632-FD50-660962358BF9}"/>
              </a:ext>
            </a:extLst>
          </p:cNvPr>
          <p:cNvSpPr txBox="1"/>
          <p:nvPr/>
        </p:nvSpPr>
        <p:spPr>
          <a:xfrm>
            <a:off x="22593950" y="27723388"/>
            <a:ext cx="9601200" cy="830997"/>
          </a:xfrm>
          <a:prstGeom prst="rect">
            <a:avLst/>
          </a:prstGeom>
          <a:noFill/>
        </p:spPr>
        <p:txBody>
          <a:bodyPr wrap="square" rtlCol="0">
            <a:spAutoFit/>
          </a:bodyPr>
          <a:lstStyle/>
          <a:p>
            <a:pPr algn="ctr"/>
            <a:r>
              <a:rPr lang="en-US" sz="2400" u="sng" dirty="0"/>
              <a:t>Random Forest with KG features</a:t>
            </a:r>
            <a:r>
              <a:rPr lang="en-US" sz="2400" dirty="0"/>
              <a:t>: </a:t>
            </a:r>
          </a:p>
          <a:p>
            <a:r>
              <a:rPr lang="en-US" sz="2400" dirty="0"/>
              <a:t>               Quantum Features             vs              Classical Features</a:t>
            </a:r>
          </a:p>
        </p:txBody>
      </p:sp>
      <p:pic>
        <p:nvPicPr>
          <p:cNvPr id="217" name="Picture 216" descr="A screen shot of a graph&#10;&#10;AI-generated content may be incorrect.">
            <a:extLst>
              <a:ext uri="{FF2B5EF4-FFF2-40B4-BE49-F238E27FC236}">
                <a16:creationId xmlns:a16="http://schemas.microsoft.com/office/drawing/2014/main" id="{77F3DEF4-4BF8-B8B4-7806-692EE42D1E1B}"/>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7459431" y="28489098"/>
            <a:ext cx="4698321" cy="3650723"/>
          </a:xfrm>
          <a:prstGeom prst="rect">
            <a:avLst/>
          </a:prstGeom>
        </p:spPr>
      </p:pic>
      <p:pic>
        <p:nvPicPr>
          <p:cNvPr id="227" name="Picture 226" descr="A graph with yellow squares&#10;&#10;AI-generated content may be incorrect.">
            <a:extLst>
              <a:ext uri="{FF2B5EF4-FFF2-40B4-BE49-F238E27FC236}">
                <a16:creationId xmlns:a16="http://schemas.microsoft.com/office/drawing/2014/main" id="{19E523C2-B055-1AA0-258B-719E77426CAF}"/>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2406668" y="28489098"/>
            <a:ext cx="4698321" cy="3650723"/>
          </a:xfrm>
          <a:prstGeom prst="rect">
            <a:avLst/>
          </a:prstGeom>
        </p:spPr>
      </p:pic>
      <p:graphicFrame>
        <p:nvGraphicFramePr>
          <p:cNvPr id="230" name="Table 229">
            <a:extLst>
              <a:ext uri="{FF2B5EF4-FFF2-40B4-BE49-F238E27FC236}">
                <a16:creationId xmlns:a16="http://schemas.microsoft.com/office/drawing/2014/main" id="{B992F0B8-F9AB-D8B0-0821-A5ABE788AB6C}"/>
              </a:ext>
            </a:extLst>
          </p:cNvPr>
          <p:cNvGraphicFramePr>
            <a:graphicFrameLocks noGrp="1"/>
          </p:cNvGraphicFramePr>
          <p:nvPr>
            <p:extLst>
              <p:ext uri="{D42A27DB-BD31-4B8C-83A1-F6EECF244321}">
                <p14:modId xmlns:p14="http://schemas.microsoft.com/office/powerpoint/2010/main" val="939696464"/>
              </p:ext>
            </p:extLst>
          </p:nvPr>
        </p:nvGraphicFramePr>
        <p:xfrm>
          <a:off x="33155973" y="8314365"/>
          <a:ext cx="10058399" cy="10201642"/>
        </p:xfrm>
        <a:graphic>
          <a:graphicData uri="http://schemas.openxmlformats.org/drawingml/2006/table">
            <a:tbl>
              <a:tblPr firstRow="1" bandRow="1">
                <a:effectLst/>
                <a:tableStyleId>{00A15C55-8517-42AA-B614-E9B94910E393}</a:tableStyleId>
              </a:tblPr>
              <a:tblGrid>
                <a:gridCol w="2505627">
                  <a:extLst>
                    <a:ext uri="{9D8B030D-6E8A-4147-A177-3AD203B41FA5}">
                      <a16:colId xmlns:a16="http://schemas.microsoft.com/office/drawing/2014/main" val="1912246713"/>
                    </a:ext>
                  </a:extLst>
                </a:gridCol>
                <a:gridCol w="1066800">
                  <a:extLst>
                    <a:ext uri="{9D8B030D-6E8A-4147-A177-3AD203B41FA5}">
                      <a16:colId xmlns:a16="http://schemas.microsoft.com/office/drawing/2014/main" val="897348325"/>
                    </a:ext>
                  </a:extLst>
                </a:gridCol>
                <a:gridCol w="1752600">
                  <a:extLst>
                    <a:ext uri="{9D8B030D-6E8A-4147-A177-3AD203B41FA5}">
                      <a16:colId xmlns:a16="http://schemas.microsoft.com/office/drawing/2014/main" val="606772878"/>
                    </a:ext>
                  </a:extLst>
                </a:gridCol>
                <a:gridCol w="914400">
                  <a:extLst>
                    <a:ext uri="{9D8B030D-6E8A-4147-A177-3AD203B41FA5}">
                      <a16:colId xmlns:a16="http://schemas.microsoft.com/office/drawing/2014/main" val="3746475118"/>
                    </a:ext>
                  </a:extLst>
                </a:gridCol>
                <a:gridCol w="914400">
                  <a:extLst>
                    <a:ext uri="{9D8B030D-6E8A-4147-A177-3AD203B41FA5}">
                      <a16:colId xmlns:a16="http://schemas.microsoft.com/office/drawing/2014/main" val="1472623147"/>
                    </a:ext>
                  </a:extLst>
                </a:gridCol>
                <a:gridCol w="990600">
                  <a:extLst>
                    <a:ext uri="{9D8B030D-6E8A-4147-A177-3AD203B41FA5}">
                      <a16:colId xmlns:a16="http://schemas.microsoft.com/office/drawing/2014/main" val="4152641761"/>
                    </a:ext>
                  </a:extLst>
                </a:gridCol>
                <a:gridCol w="838200">
                  <a:extLst>
                    <a:ext uri="{9D8B030D-6E8A-4147-A177-3AD203B41FA5}">
                      <a16:colId xmlns:a16="http://schemas.microsoft.com/office/drawing/2014/main" val="3306696357"/>
                    </a:ext>
                  </a:extLst>
                </a:gridCol>
                <a:gridCol w="1075772">
                  <a:extLst>
                    <a:ext uri="{9D8B030D-6E8A-4147-A177-3AD203B41FA5}">
                      <a16:colId xmlns:a16="http://schemas.microsoft.com/office/drawing/2014/main" val="3588937735"/>
                    </a:ext>
                  </a:extLst>
                </a:gridCol>
              </a:tblGrid>
              <a:tr h="499600">
                <a:tc gridSpan="8">
                  <a:txBody>
                    <a:bodyPr/>
                    <a:lstStyle/>
                    <a:p>
                      <a:pPr algn="ctr"/>
                      <a:r>
                        <a:rPr lang="en-US" sz="2800" dirty="0"/>
                        <a:t>Comparison (10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solidFill>
                      <a:schemeClr val="accent6">
                        <a:lumMod val="75000"/>
                      </a:schemeClr>
                    </a:solidFill>
                  </a:tcPr>
                </a:tc>
                <a:tc hMerge="1">
                  <a:txBody>
                    <a:bodyPr/>
                    <a:lstStyle/>
                    <a:p>
                      <a:endParaRPr lang="en-US" dirty="0"/>
                    </a:p>
                  </a:txBody>
                  <a:tcPr/>
                </a:tc>
                <a:tc hMerge="1">
                  <a:txBody>
                    <a:bodyPr/>
                    <a:lstStyle/>
                    <a:p>
                      <a:endParaRPr lang="en-US" dirty="0"/>
                    </a:p>
                  </a:txBody>
                  <a:tcPr/>
                </a:tc>
                <a:tc hMerge="1">
                  <a:txBody>
                    <a:bodyPr/>
                    <a:lstStyle/>
                    <a:p>
                      <a:pPr algn="ctr"/>
                      <a:endParaRPr lang="en-US" sz="2800" dirty="0"/>
                    </a:p>
                  </a:txBody>
                  <a:tcPr>
                    <a:cell3D prstMaterial="dkEdge">
                      <a:bevel prst="artDeco"/>
                      <a:lightRig rig="flood" dir="t"/>
                    </a:cell3D>
                    <a:solidFill>
                      <a:schemeClr val="accent6">
                        <a:lumMod val="75000"/>
                      </a:schemeClr>
                    </a:solidFill>
                  </a:tcPr>
                </a:tc>
                <a:tc hMerge="1">
                  <a:txBody>
                    <a:bodyPr/>
                    <a:lstStyle/>
                    <a:p>
                      <a:pPr algn="ctr"/>
                      <a:endParaRPr lang="en-US" sz="2800" dirty="0"/>
                    </a:p>
                  </a:txBody>
                  <a:tcPr>
                    <a:cell3D prstMaterial="dkEdge">
                      <a:bevel prst="artDeco"/>
                      <a:lightRig rig="flood" dir="t"/>
                    </a:cell3D>
                    <a:solidFill>
                      <a:schemeClr val="accent6">
                        <a:lumMod val="75000"/>
                      </a:schemeClr>
                    </a:solidFill>
                  </a:tcPr>
                </a:tc>
                <a:tc hMerge="1">
                  <a:txBody>
                    <a:bodyPr/>
                    <a:lstStyle/>
                    <a:p>
                      <a:pPr algn="ctr"/>
                      <a:endParaRPr lang="en-US" sz="2800" dirty="0"/>
                    </a:p>
                  </a:txBody>
                  <a:tcPr>
                    <a:cell3D prstMaterial="dkEdge">
                      <a:bevel prst="artDeco"/>
                      <a:lightRig rig="flood" dir="t"/>
                    </a:cell3D>
                    <a:solidFill>
                      <a:schemeClr val="accent6">
                        <a:lumMod val="75000"/>
                      </a:schemeClr>
                    </a:solidFill>
                  </a:tcPr>
                </a:tc>
                <a:tc hMerge="1">
                  <a:txBody>
                    <a:bodyPr/>
                    <a:lstStyle/>
                    <a:p>
                      <a:pPr algn="ctr"/>
                      <a:endParaRPr lang="en-US" sz="2800" dirty="0"/>
                    </a:p>
                  </a:txBody>
                  <a:tcPr>
                    <a:cell3D prstMaterial="dkEdge">
                      <a:bevel prst="artDeco"/>
                      <a:lightRig rig="flood" dir="t"/>
                    </a:cell3D>
                    <a:solidFill>
                      <a:schemeClr val="accent6">
                        <a:lumMod val="75000"/>
                      </a:schemeClr>
                    </a:solidFill>
                  </a:tcPr>
                </a:tc>
                <a:tc hMerge="1">
                  <a:txBody>
                    <a:bodyPr/>
                    <a:lstStyle/>
                    <a:p>
                      <a:pPr algn="ctr"/>
                      <a:endParaRPr lang="en-US" sz="2800" dirty="0"/>
                    </a:p>
                  </a:txBody>
                  <a:tcPr>
                    <a:cell3D prstMaterial="dkEdge">
                      <a:bevel prst="artDeco"/>
                      <a:lightRig rig="flood" dir="t"/>
                    </a:cell3D>
                    <a:solidFill>
                      <a:schemeClr val="accent6">
                        <a:lumMod val="75000"/>
                      </a:schemeClr>
                    </a:solidFill>
                  </a:tcPr>
                </a:tc>
                <a:extLst>
                  <a:ext uri="{0D108BD9-81ED-4DB2-BD59-A6C34878D82A}">
                    <a16:rowId xmlns:a16="http://schemas.microsoft.com/office/drawing/2014/main" val="3052296151"/>
                  </a:ext>
                </a:extLst>
              </a:tr>
              <a:tr h="1185687">
                <a:tc>
                  <a:txBody>
                    <a:bodyPr/>
                    <a:lstStyle/>
                    <a:p>
                      <a:pPr algn="ctr"/>
                      <a:r>
                        <a:rPr lang="en-US" sz="2400" b="1" u="sng" dirty="0"/>
                        <a:t>Setup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Selector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Acc%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err="1"/>
                        <a:t>Prec</a:t>
                      </a:r>
                      <a:endParaRPr lang="en-US" sz="2400" b="1" u="sng" dirty="0"/>
                    </a:p>
                    <a:p>
                      <a:pPr algn="ctr"/>
                      <a:r>
                        <a:rPr lang="en-US" sz="2400" b="1" u="sng"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Rec%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F1</a:t>
                      </a:r>
                    </a:p>
                    <a:p>
                      <a:pPr algn="ctr"/>
                      <a:r>
                        <a:rPr lang="en-US" sz="2400" b="1" u="sng"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b="1" u="sng" dirty="0"/>
                        <a:t>ROC AUC%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1942459989"/>
                  </a:ext>
                </a:extLst>
              </a:tr>
              <a:tr h="772661">
                <a:tc>
                  <a:txBody>
                    <a:bodyPr/>
                    <a:lstStyle/>
                    <a:p>
                      <a:pPr algn="ctr"/>
                      <a:r>
                        <a:rPr lang="en-US" sz="2400" dirty="0"/>
                        <a:t>Benign –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Classical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45.2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2510971324"/>
                  </a:ext>
                </a:extLst>
              </a:tr>
              <a:tr h="772661">
                <a:tc>
                  <a:txBody>
                    <a:bodyPr/>
                    <a:lstStyle/>
                    <a:p>
                      <a:pPr algn="ctr"/>
                      <a:r>
                        <a:rPr lang="en-US" sz="2400" dirty="0"/>
                        <a:t>Benign –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Classical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4163876427"/>
                  </a:ext>
                </a:extLst>
              </a:tr>
              <a:tr h="793483">
                <a:tc>
                  <a:txBody>
                    <a:bodyPr/>
                    <a:lstStyle/>
                    <a:p>
                      <a:pPr algn="ctr"/>
                      <a:r>
                        <a:rPr lang="en-US" sz="2400" dirty="0"/>
                        <a:t>Attack only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Quantum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53.8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68.3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54.9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1998128641"/>
                  </a:ext>
                </a:extLst>
              </a:tr>
              <a:tr h="793483">
                <a:tc>
                  <a:txBody>
                    <a:bodyPr/>
                    <a:lstStyle/>
                    <a:p>
                      <a:pPr algn="ctr"/>
                      <a:r>
                        <a:rPr lang="en-US" sz="2400" dirty="0"/>
                        <a:t>Attack only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Classical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57.2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65.3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56.0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2040773373"/>
                  </a:ext>
                </a:extLst>
              </a:tr>
              <a:tr h="793483">
                <a:tc>
                  <a:txBody>
                    <a:bodyPr/>
                    <a:lstStyle/>
                    <a:p>
                      <a:pPr algn="ctr"/>
                      <a:r>
                        <a:rPr lang="en-US" sz="2400" dirty="0"/>
                        <a:t>Attack only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Quantum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80.5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3555843056"/>
                  </a:ext>
                </a:extLst>
              </a:tr>
              <a:tr h="793483">
                <a:tc>
                  <a:txBody>
                    <a:bodyPr/>
                    <a:lstStyle/>
                    <a:p>
                      <a:pPr algn="ctr"/>
                      <a:r>
                        <a:rPr lang="en-US" sz="2400" dirty="0"/>
                        <a:t>Attack only No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Classical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75.0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4187221284"/>
                  </a:ext>
                </a:extLst>
              </a:tr>
              <a:tr h="793483">
                <a:tc>
                  <a:txBody>
                    <a:bodyPr/>
                    <a:lstStyle/>
                    <a:p>
                      <a:pPr algn="ctr"/>
                      <a:r>
                        <a:rPr lang="en-US" sz="2400" dirty="0"/>
                        <a:t>Attack only with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Quantum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88.2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88.3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2996498947"/>
                  </a:ext>
                </a:extLst>
              </a:tr>
              <a:tr h="793483">
                <a:tc>
                  <a:txBody>
                    <a:bodyPr/>
                    <a:lstStyle/>
                    <a:p>
                      <a:pPr algn="ctr"/>
                      <a:r>
                        <a:rPr lang="en-US" sz="2400" dirty="0"/>
                        <a:t>Attack only with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Classical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3620464127"/>
                  </a:ext>
                </a:extLst>
              </a:tr>
              <a:tr h="793483">
                <a:tc>
                  <a:txBody>
                    <a:bodyPr/>
                    <a:lstStyle/>
                    <a:p>
                      <a:pPr algn="ctr"/>
                      <a:r>
                        <a:rPr lang="en-US" sz="2400" dirty="0"/>
                        <a:t>Attack only with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Quantum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318107202"/>
                  </a:ext>
                </a:extLst>
              </a:tr>
              <a:tr h="1146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Attack only with KG</a:t>
                      </a:r>
                    </a:p>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RF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Classical</a:t>
                      </a:r>
                    </a:p>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99.8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tc>
                  <a:txBody>
                    <a:bodyPr/>
                    <a:lstStyle/>
                    <a:p>
                      <a:pPr algn="ctr"/>
                      <a:r>
                        <a:rPr lang="en-US" sz="24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artDeco"/>
                      <a:lightRig rig="flood" dir="t"/>
                    </a:cell3D>
                    <a:gradFill>
                      <a:gsLst>
                        <a:gs pos="0">
                          <a:schemeClr val="bg1">
                            <a:alpha val="86000"/>
                          </a:schemeClr>
                        </a:gs>
                        <a:gs pos="99000">
                          <a:schemeClr val="accent6"/>
                        </a:gs>
                        <a:gs pos="100000">
                          <a:schemeClr val="bg1">
                            <a:lumMod val="95000"/>
                          </a:schemeClr>
                        </a:gs>
                        <a:gs pos="26000">
                          <a:schemeClr val="bg1"/>
                        </a:gs>
                        <a:gs pos="79000">
                          <a:schemeClr val="bg1"/>
                        </a:gs>
                      </a:gsLst>
                      <a:lin ang="5400000" scaled="1"/>
                    </a:gradFill>
                  </a:tcPr>
                </a:tc>
                <a:extLst>
                  <a:ext uri="{0D108BD9-81ED-4DB2-BD59-A6C34878D82A}">
                    <a16:rowId xmlns:a16="http://schemas.microsoft.com/office/drawing/2014/main" val="542638396"/>
                  </a:ext>
                </a:extLst>
              </a:tr>
            </a:tbl>
          </a:graphicData>
        </a:graphic>
      </p:graphicFrame>
      <p:sp>
        <p:nvSpPr>
          <p:cNvPr id="232" name="TextBox 231">
            <a:extLst>
              <a:ext uri="{FF2B5EF4-FFF2-40B4-BE49-F238E27FC236}">
                <a16:creationId xmlns:a16="http://schemas.microsoft.com/office/drawing/2014/main" id="{4277A1FD-3328-F00C-DDA2-48FEBCE5A233}"/>
              </a:ext>
            </a:extLst>
          </p:cNvPr>
          <p:cNvSpPr txBox="1"/>
          <p:nvPr/>
        </p:nvSpPr>
        <p:spPr>
          <a:xfrm>
            <a:off x="33155973" y="18508950"/>
            <a:ext cx="10058399" cy="6001643"/>
          </a:xfrm>
          <a:prstGeom prst="rect">
            <a:avLst/>
          </a:prstGeom>
          <a:noFill/>
        </p:spPr>
        <p:txBody>
          <a:bodyPr wrap="square" rtlCol="0">
            <a:spAutoFit/>
          </a:bodyPr>
          <a:lstStyle/>
          <a:p>
            <a:r>
              <a:rPr lang="en-US" sz="2400" b="1" u="sng" dirty="0"/>
              <a:t>KG signals work</a:t>
            </a:r>
            <a:r>
              <a:rPr lang="en-US" sz="2400" dirty="0"/>
              <a:t>: Graph and time-aware features improved separation of rare attack types compared to raw flow stats alone.</a:t>
            </a:r>
          </a:p>
          <a:p>
            <a:pPr marL="342900" indent="-342900">
              <a:buFont typeface="Arial" panose="020B0604020202020204" pitchFamily="34" charset="0"/>
              <a:buChar char="•"/>
            </a:pPr>
            <a:r>
              <a:rPr lang="en-US" sz="2400" dirty="0"/>
              <a:t>Quantum vs. classical selection: The quantum selector chose 3 of 10 KG-derived signals (classical chose 1 of 10), with a 6/10 overall overlap—showing strong agreement while elevating relational and  temporal context.</a:t>
            </a:r>
          </a:p>
          <a:p>
            <a:pPr marL="342900" indent="-342900">
              <a:buFont typeface="Arial" panose="020B0604020202020204" pitchFamily="34" charset="0"/>
              <a:buChar char="•"/>
            </a:pPr>
            <a:r>
              <a:rPr lang="en-US" sz="2400" dirty="0"/>
              <a:t>Quantum selection delivered similar test results to the classical selector, indicating you can keep accuracy while biasing the feature set toward richer KG structure.</a:t>
            </a:r>
          </a:p>
          <a:p>
            <a:r>
              <a:rPr lang="en-US" sz="2400" b="1" u="sng" dirty="0"/>
              <a:t>Takeaway</a:t>
            </a:r>
            <a:r>
              <a:rPr lang="en-US" sz="2400" b="1" dirty="0"/>
              <a:t>:</a:t>
            </a:r>
          </a:p>
          <a:p>
            <a:pPr marL="342900" indent="-342900">
              <a:buFont typeface="Arial" panose="020B0604020202020204" pitchFamily="34" charset="0"/>
              <a:buChar char="•"/>
            </a:pPr>
            <a:r>
              <a:rPr lang="en-US" sz="2400" dirty="0"/>
              <a:t>For imbalanced problems where context matters, </a:t>
            </a:r>
            <a:r>
              <a:rPr lang="en-US" sz="2400" b="1" dirty="0"/>
              <a:t>KG + quantum feature selection</a:t>
            </a:r>
            <a:r>
              <a:rPr lang="en-US" sz="2400" dirty="0"/>
              <a:t> is a practical path to better minority-class detection.  While quantum metrics were lower, combining features is simple. Quantum feature selection is cheap in comparison to many quantum computing methods. Combining classical and quantum features is an efficient way to improve classical methods.</a:t>
            </a:r>
          </a:p>
        </p:txBody>
      </p:sp>
      <p:sp>
        <p:nvSpPr>
          <p:cNvPr id="234" name="TextBox 233">
            <a:extLst>
              <a:ext uri="{FF2B5EF4-FFF2-40B4-BE49-F238E27FC236}">
                <a16:creationId xmlns:a16="http://schemas.microsoft.com/office/drawing/2014/main" id="{847195A8-B3C3-5A0B-14C4-0A11F799D48C}"/>
              </a:ext>
            </a:extLst>
          </p:cNvPr>
          <p:cNvSpPr txBox="1"/>
          <p:nvPr/>
        </p:nvSpPr>
        <p:spPr>
          <a:xfrm>
            <a:off x="33174085" y="24490656"/>
            <a:ext cx="10058399" cy="4524315"/>
          </a:xfrm>
          <a:prstGeom prst="rect">
            <a:avLst/>
          </a:prstGeom>
          <a:noFill/>
        </p:spPr>
        <p:txBody>
          <a:bodyPr wrap="square" rtlCol="0">
            <a:spAutoFit/>
          </a:bodyPr>
          <a:lstStyle/>
          <a:p>
            <a:r>
              <a:rPr lang="en-US" sz="2400" b="1" u="sng" dirty="0"/>
              <a:t>Why this transfers beyond cybersecurity</a:t>
            </a:r>
            <a:r>
              <a:rPr lang="en-US" sz="2400" dirty="0"/>
              <a:t>:</a:t>
            </a:r>
          </a:p>
          <a:p>
            <a:pPr marL="342900" indent="-342900">
              <a:buFont typeface="Arial" panose="020B0604020202020204" pitchFamily="34" charset="0"/>
              <a:buChar char="•"/>
            </a:pPr>
            <a:r>
              <a:rPr lang="en-US" sz="2400" dirty="0"/>
              <a:t>Healthcare/imaging: Rare subtypes, time correlation</a:t>
            </a:r>
          </a:p>
          <a:p>
            <a:pPr marL="342900" indent="-342900">
              <a:buFont typeface="Arial" panose="020B0604020202020204" pitchFamily="34" charset="0"/>
              <a:buChar char="•"/>
            </a:pPr>
            <a:r>
              <a:rPr lang="en-US" sz="2400" dirty="0"/>
              <a:t>Insurance: Claim-network links expose organized fraud.</a:t>
            </a:r>
          </a:p>
          <a:p>
            <a:pPr marL="342900" indent="-342900">
              <a:buFont typeface="Arial" panose="020B0604020202020204" pitchFamily="34" charset="0"/>
              <a:buChar char="•"/>
            </a:pPr>
            <a:r>
              <a:rPr lang="en-US" sz="2400" dirty="0"/>
              <a:t>Finance: Trade patterns; trade anomalies; social media aspects as KG features.</a:t>
            </a:r>
          </a:p>
          <a:p>
            <a:pPr marL="342900" indent="-342900">
              <a:buFont typeface="Arial" panose="020B0604020202020204" pitchFamily="34" charset="0"/>
              <a:buChar char="•"/>
            </a:pPr>
            <a:r>
              <a:rPr lang="en-US" sz="2400" dirty="0"/>
              <a:t>Any imbalanced domain: KG + quantum boosts rare-event signal.</a:t>
            </a:r>
          </a:p>
          <a:p>
            <a:r>
              <a:rPr lang="en-US" sz="2400" b="1" u="sng" dirty="0"/>
              <a:t>Future Plans</a:t>
            </a:r>
            <a:r>
              <a:rPr lang="en-US" sz="2400" dirty="0"/>
              <a:t>:</a:t>
            </a:r>
            <a:endParaRPr lang="en-US" sz="2400" b="1" u="sng" dirty="0"/>
          </a:p>
          <a:p>
            <a:pPr marL="342900" indent="-342900">
              <a:buFont typeface="Arial" panose="020B0604020202020204" pitchFamily="34" charset="0"/>
              <a:buChar char="•"/>
            </a:pPr>
            <a:r>
              <a:rPr lang="en-US" sz="2400" dirty="0"/>
              <a:t>Investigate further quantum methods such as a Quantum Neural Network (QNN) to evaluate efficacy of quantum feature selection.</a:t>
            </a:r>
          </a:p>
          <a:p>
            <a:pPr marL="342900" indent="-342900">
              <a:buFont typeface="Arial" panose="020B0604020202020204" pitchFamily="34" charset="0"/>
              <a:buChar char="•"/>
            </a:pPr>
            <a:r>
              <a:rPr lang="en-US" sz="2400" dirty="0"/>
              <a:t>Use knowledge graphs as a sanity check for models instead of additional features.</a:t>
            </a:r>
          </a:p>
          <a:p>
            <a:pPr marL="342900" indent="-342900">
              <a:buFont typeface="Arial" panose="020B0604020202020204" pitchFamily="34" charset="0"/>
              <a:buChar char="•"/>
            </a:pPr>
            <a:r>
              <a:rPr lang="en-US" sz="2400" dirty="0"/>
              <a:t>Apply to other domains.</a:t>
            </a:r>
          </a:p>
        </p:txBody>
      </p:sp>
      <p:sp>
        <p:nvSpPr>
          <p:cNvPr id="236" name="TextBox 235">
            <a:extLst>
              <a:ext uri="{FF2B5EF4-FFF2-40B4-BE49-F238E27FC236}">
                <a16:creationId xmlns:a16="http://schemas.microsoft.com/office/drawing/2014/main" id="{B5409016-4FCE-453C-E317-1866B06DB86C}"/>
              </a:ext>
            </a:extLst>
          </p:cNvPr>
          <p:cNvSpPr txBox="1"/>
          <p:nvPr/>
        </p:nvSpPr>
        <p:spPr>
          <a:xfrm>
            <a:off x="11478624" y="23035252"/>
            <a:ext cx="5538367"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QUBO → Ising Hamiltonian → </a:t>
            </a:r>
            <a:r>
              <a:rPr lang="en-US" sz="2400" dirty="0" err="1"/>
              <a:t>SparsePauliOp</a:t>
            </a:r>
            <a:endParaRPr lang="en-US" sz="2400" dirty="0"/>
          </a:p>
          <a:p>
            <a:pPr marL="342900" indent="-342900">
              <a:buFont typeface="Arial" panose="020B0604020202020204" pitchFamily="34" charset="0"/>
              <a:buChar char="•"/>
            </a:pPr>
            <a:r>
              <a:rPr lang="en-US" sz="2400" dirty="0"/>
              <a:t>Build QAOA circuit (Ansatz)</a:t>
            </a:r>
          </a:p>
          <a:p>
            <a:pPr marL="342900" indent="-342900">
              <a:buFont typeface="Arial" panose="020B0604020202020204" pitchFamily="34" charset="0"/>
              <a:buChar char="•"/>
            </a:pPr>
            <a:r>
              <a:rPr lang="en-US" sz="2400" dirty="0"/>
              <a:t>Estimator = optimize parameters</a:t>
            </a:r>
          </a:p>
          <a:p>
            <a:pPr marL="342900" indent="-342900">
              <a:buFont typeface="Arial" panose="020B0604020202020204" pitchFamily="34" charset="0"/>
              <a:buChar char="•"/>
            </a:pPr>
            <a:r>
              <a:rPr lang="en-US" sz="2400" dirty="0"/>
              <a:t>Sampler = sample subsets</a:t>
            </a:r>
          </a:p>
          <a:p>
            <a:pPr marL="342900" indent="-342900">
              <a:buFont typeface="Arial" panose="020B0604020202020204" pitchFamily="34" charset="0"/>
              <a:buChar char="•"/>
            </a:pPr>
            <a:r>
              <a:rPr lang="en-US" sz="2400"/>
              <a:t>Warm starts</a:t>
            </a:r>
            <a:endParaRPr lang="en-US" sz="2400" dirty="0"/>
          </a:p>
          <a:p>
            <a:pPr marL="342900" indent="-342900">
              <a:buFont typeface="Arial" panose="020B0604020202020204" pitchFamily="34" charset="0"/>
              <a:buChar char="•"/>
            </a:pPr>
            <a:r>
              <a:rPr lang="en-US" sz="2400" dirty="0"/>
              <a:t>Read quantum computing errors and mitigate</a:t>
            </a:r>
          </a:p>
          <a:p>
            <a:pPr marL="342900" indent="-342900">
              <a:buFont typeface="Arial" panose="020B0604020202020204" pitchFamily="34" charset="0"/>
              <a:buChar char="•"/>
            </a:pPr>
            <a:r>
              <a:rPr lang="en-US" sz="2400" dirty="0"/>
              <a:t>Decode and select features</a:t>
            </a:r>
          </a:p>
        </p:txBody>
      </p:sp>
      <p:pic>
        <p:nvPicPr>
          <p:cNvPr id="238" name="Picture 237" descr="A graph with colorful dots and lines&#10;&#10;AI-generated content may be incorrect.">
            <a:extLst>
              <a:ext uri="{FF2B5EF4-FFF2-40B4-BE49-F238E27FC236}">
                <a16:creationId xmlns:a16="http://schemas.microsoft.com/office/drawing/2014/main" id="{4A7E7FFD-E153-3315-0ED4-089C1253D467}"/>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17030869" y="23042186"/>
            <a:ext cx="4521675" cy="3121415"/>
          </a:xfrm>
          <a:prstGeom prst="rect">
            <a:avLst/>
          </a:prstGeom>
        </p:spPr>
      </p:pic>
      <p:pic>
        <p:nvPicPr>
          <p:cNvPr id="245" name="Picture 244" descr="A screen shot of a graph&#10;&#10;AI-generated content may be incorrect.">
            <a:extLst>
              <a:ext uri="{FF2B5EF4-FFF2-40B4-BE49-F238E27FC236}">
                <a16:creationId xmlns:a16="http://schemas.microsoft.com/office/drawing/2014/main" id="{1607B152-1C09-7C1E-09C3-5337E460ABF6}"/>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7502908" y="24040923"/>
            <a:ext cx="4692242" cy="3646000"/>
          </a:xfrm>
          <a:prstGeom prst="rect">
            <a:avLst/>
          </a:prstGeom>
        </p:spPr>
      </p:pic>
      <p:pic>
        <p:nvPicPr>
          <p:cNvPr id="247" name="Picture 246" descr="A chart with many colored squares&#10;&#10;AI-generated content may be incorrect.">
            <a:extLst>
              <a:ext uri="{FF2B5EF4-FFF2-40B4-BE49-F238E27FC236}">
                <a16:creationId xmlns:a16="http://schemas.microsoft.com/office/drawing/2014/main" id="{4690F87F-854E-1352-AC56-FFD75E99900F}"/>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2388948" y="24022781"/>
            <a:ext cx="4692242" cy="3645999"/>
          </a:xfrm>
          <a:prstGeom prst="rect">
            <a:avLst/>
          </a:prstGeom>
        </p:spPr>
      </p:pic>
      <p:pic>
        <p:nvPicPr>
          <p:cNvPr id="9" name="Picture 8">
            <a:extLst>
              <a:ext uri="{FF2B5EF4-FFF2-40B4-BE49-F238E27FC236}">
                <a16:creationId xmlns:a16="http://schemas.microsoft.com/office/drawing/2014/main" id="{98B21D42-0C11-C823-1974-FE8A8EA5ADED}"/>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3565374" y="8318645"/>
            <a:ext cx="7604065" cy="3246372"/>
          </a:xfrm>
          <a:prstGeom prst="rect">
            <a:avLst/>
          </a:prstGeom>
        </p:spPr>
      </p:pic>
      <p:pic>
        <p:nvPicPr>
          <p:cNvPr id="20" name="Picture 19">
            <a:extLst>
              <a:ext uri="{FF2B5EF4-FFF2-40B4-BE49-F238E27FC236}">
                <a16:creationId xmlns:a16="http://schemas.microsoft.com/office/drawing/2014/main" id="{6B29A7C6-9836-BE2F-4106-F5DABFDC686A}"/>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23565373" y="11512811"/>
            <a:ext cx="7604066" cy="3246372"/>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hilosophicalseafoam|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3837</TotalTime>
  <Words>936</Words>
  <Application>Microsoft Office PowerPoint</Application>
  <PresentationFormat>Custom</PresentationFormat>
  <Paragraphs>221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Amaranth</vt:lpstr>
      <vt:lpstr>Titillium Web</vt:lpstr>
      <vt:lpstr>Arial Nova</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Tom Steinman</cp:lastModifiedBy>
  <cp:revision>64</cp:revision>
  <dcterms:modified xsi:type="dcterms:W3CDTF">2025-11-10T21:32:34Z</dcterms:modified>
  <cp:category>science research poster</cp:category>
</cp:coreProperties>
</file>